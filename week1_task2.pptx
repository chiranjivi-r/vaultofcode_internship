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9"/>
  </p:notesMasterIdLst>
  <p:sldIdLst>
    <p:sldId id="529" r:id="rId2"/>
    <p:sldId id="359" r:id="rId3"/>
    <p:sldId id="361" r:id="rId4"/>
    <p:sldId id="360" r:id="rId5"/>
    <p:sldId id="481" r:id="rId6"/>
    <p:sldId id="362" r:id="rId7"/>
    <p:sldId id="268" r:id="rId8"/>
    <p:sldId id="269" r:id="rId9"/>
    <p:sldId id="270" r:id="rId10"/>
    <p:sldId id="472" r:id="rId11"/>
    <p:sldId id="473" r:id="rId12"/>
    <p:sldId id="480" r:id="rId13"/>
    <p:sldId id="342" r:id="rId14"/>
    <p:sldId id="344" r:id="rId15"/>
    <p:sldId id="345" r:id="rId16"/>
    <p:sldId id="536" r:id="rId17"/>
    <p:sldId id="533" r:id="rId18"/>
    <p:sldId id="537" r:id="rId19"/>
    <p:sldId id="539" r:id="rId20"/>
    <p:sldId id="540" r:id="rId21"/>
    <p:sldId id="534" r:id="rId22"/>
    <p:sldId id="535" r:id="rId23"/>
    <p:sldId id="541" r:id="rId24"/>
    <p:sldId id="538" r:id="rId25"/>
    <p:sldId id="542" r:id="rId26"/>
    <p:sldId id="543" r:id="rId27"/>
    <p:sldId id="528" r:id="rId2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481" autoAdjust="0"/>
    <p:restoredTop sz="94660"/>
  </p:normalViewPr>
  <p:slideViewPr>
    <p:cSldViewPr>
      <p:cViewPr varScale="1">
        <p:scale>
          <a:sx n="82" d="100"/>
          <a:sy n="82" d="100"/>
        </p:scale>
        <p:origin x="1253" y="91"/>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DC8E279-90CE-4A26-BFF9-E7A25C0A7A6F}" type="datetimeFigureOut">
              <a:rPr lang="en-US" smtClean="0"/>
              <a:pPr/>
              <a:t>11/15/2025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86D53AD-0DBA-41B8-BCA3-33BD78A7A074}" type="slidenum">
              <a:rPr lang="en-IN" smtClean="0"/>
              <a:pPr/>
              <a:t>‹#›</a:t>
            </a:fld>
            <a:endParaRPr lang="en-IN"/>
          </a:p>
        </p:txBody>
      </p:sp>
    </p:spTree>
    <p:extLst>
      <p:ext uri="{BB962C8B-B14F-4D97-AF65-F5344CB8AC3E}">
        <p14:creationId xmlns:p14="http://schemas.microsoft.com/office/powerpoint/2010/main" val="14066045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258969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059520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69754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216491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751585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329196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83120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26458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22506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086115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8046436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256649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648488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39805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651740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805703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D8BD707-D9CF-40AE-B4C6-C98DA3205C09}" type="datetimeFigureOut">
              <a:rPr lang="en-US" smtClean="0"/>
              <a:pPr/>
              <a:t>11/15/2025</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14861786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javatpoint.com/jvm-java-virtual-machine"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Introduction &amp; History of Java</a:t>
            </a:r>
            <a:br>
              <a:rPr lang="en-US" b="1" dirty="0"/>
            </a:br>
            <a:r>
              <a:rPr lang="en-US" b="1" dirty="0"/>
              <a:t>and</a:t>
            </a:r>
            <a:br>
              <a:rPr lang="en-US" b="1" dirty="0"/>
            </a:br>
            <a:r>
              <a:rPr lang="en-US" b="1" dirty="0"/>
              <a:t>Object-Oriented Programming (OOP) in Java</a:t>
            </a:r>
            <a:br>
              <a:rPr lang="en-US" b="1" dirty="0"/>
            </a:br>
            <a:endParaRPr lang="en-US" dirty="0"/>
          </a:p>
        </p:txBody>
      </p:sp>
      <p:sp>
        <p:nvSpPr>
          <p:cNvPr id="3" name="Content Placeholder 2"/>
          <p:cNvSpPr>
            <a:spLocks noGrp="1"/>
          </p:cNvSpPr>
          <p:nvPr>
            <p:ph idx="1"/>
          </p:nvPr>
        </p:nvSpPr>
        <p:spPr>
          <a:xfrm>
            <a:off x="609598" y="2780928"/>
            <a:ext cx="7462863" cy="3260435"/>
          </a:xfrm>
        </p:spPr>
        <p:txBody>
          <a:bodyPr>
            <a:normAutofit fontScale="70000" lnSpcReduction="20000"/>
          </a:bodyPr>
          <a:lstStyle/>
          <a:p>
            <a:pPr algn="ctr">
              <a:buNone/>
            </a:pPr>
            <a:endParaRPr lang="en-US" sz="4800" dirty="0">
              <a:solidFill>
                <a:schemeClr val="accent4"/>
              </a:solidFill>
            </a:endParaRPr>
          </a:p>
          <a:p>
            <a:pPr algn="ctr">
              <a:buNone/>
            </a:pPr>
            <a:endParaRPr lang="en-US" sz="4800" dirty="0">
              <a:solidFill>
                <a:srgbClr val="00B050"/>
              </a:solidFill>
            </a:endParaRPr>
          </a:p>
          <a:p>
            <a:pPr algn="ctr">
              <a:buNone/>
            </a:pPr>
            <a:r>
              <a:rPr lang="en-US" sz="4800" dirty="0">
                <a:solidFill>
                  <a:srgbClr val="00B050"/>
                </a:solidFill>
              </a:rPr>
              <a:t>							 </a:t>
            </a:r>
            <a:r>
              <a:rPr lang="en-US" sz="3200" dirty="0">
                <a:solidFill>
                  <a:srgbClr val="00B050"/>
                </a:solidFill>
                <a:latin typeface="Times New Roman" panose="02020603050405020304" pitchFamily="18" charset="0"/>
                <a:cs typeface="Times New Roman" panose="02020603050405020304" pitchFamily="18" charset="0"/>
              </a:rPr>
              <a:t>Prepared</a:t>
            </a:r>
            <a:r>
              <a:rPr lang="en-US" sz="2700" dirty="0">
                <a:solidFill>
                  <a:srgbClr val="00B050"/>
                </a:solidFill>
                <a:latin typeface="Times New Roman" panose="02020603050405020304" pitchFamily="18" charset="0"/>
                <a:cs typeface="Times New Roman" panose="02020603050405020304" pitchFamily="18" charset="0"/>
              </a:rPr>
              <a:t> </a:t>
            </a:r>
            <a:r>
              <a:rPr lang="en-US" sz="3200" dirty="0">
                <a:solidFill>
                  <a:srgbClr val="00B050"/>
                </a:solidFill>
                <a:latin typeface="Times New Roman" panose="02020603050405020304" pitchFamily="18" charset="0"/>
                <a:cs typeface="Times New Roman" panose="02020603050405020304" pitchFamily="18" charset="0"/>
              </a:rPr>
              <a:t>By</a:t>
            </a:r>
            <a:r>
              <a:rPr lang="en-US" sz="3200" dirty="0">
                <a:solidFill>
                  <a:srgbClr val="00B050"/>
                </a:solidFill>
              </a:rPr>
              <a:t> :</a:t>
            </a:r>
          </a:p>
          <a:p>
            <a:pPr algn="r">
              <a:buNone/>
            </a:pPr>
            <a:r>
              <a:rPr lang="en-US" sz="3200" dirty="0">
                <a:solidFill>
                  <a:srgbClr val="00B050"/>
                </a:solidFill>
                <a:latin typeface="Times New Roman" pitchFamily="18" charset="0"/>
                <a:cs typeface="Times New Roman" pitchFamily="18" charset="0"/>
              </a:rPr>
              <a:t>Chiranjivi R</a:t>
            </a:r>
          </a:p>
          <a:p>
            <a:pPr algn="r">
              <a:buNone/>
            </a:pPr>
            <a:endParaRPr lang="en-US" sz="3200" dirty="0">
              <a:solidFill>
                <a:srgbClr val="00B050"/>
              </a:solidFill>
              <a:latin typeface="Times New Roman" pitchFamily="18" charset="0"/>
              <a:cs typeface="Times New Roman" pitchFamily="18" charset="0"/>
            </a:endParaRPr>
          </a:p>
          <a:p>
            <a:pPr algn="r">
              <a:buNone/>
            </a:pPr>
            <a:r>
              <a:rPr lang="en-US" sz="3200" dirty="0">
                <a:latin typeface="Times New Roman" panose="02020603050405020304" pitchFamily="18" charset="0"/>
                <a:cs typeface="Times New Roman" panose="02020603050405020304" pitchFamily="18" charset="0"/>
              </a:rPr>
              <a:t>“</a:t>
            </a:r>
            <a:r>
              <a:rPr lang="en-US" sz="3200" dirty="0">
                <a:solidFill>
                  <a:schemeClr val="accent2">
                    <a:lumMod val="75000"/>
                  </a:schemeClr>
                </a:solidFill>
                <a:latin typeface="Times New Roman" panose="02020603050405020304" pitchFamily="18" charset="0"/>
                <a:cs typeface="Times New Roman" panose="02020603050405020304" pitchFamily="18" charset="0"/>
              </a:rPr>
              <a:t>A concise and clear foundation to understand Java and its core OOP principles.”</a:t>
            </a:r>
          </a:p>
          <a:p>
            <a:pPr algn="ctr">
              <a:buNone/>
            </a:pPr>
            <a:endParaRPr lang="en-US" sz="3200" dirty="0">
              <a:solidFill>
                <a:srgbClr val="00B050"/>
              </a:solidFill>
            </a:endParaRPr>
          </a:p>
          <a:p>
            <a:pPr algn="ctr">
              <a:buNone/>
            </a:pPr>
            <a:endParaRPr lang="en-US" sz="4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4953000"/>
          </a:xfrm>
        </p:spPr>
        <p:txBody>
          <a:bodyPr>
            <a:normAutofit/>
          </a:bodyPr>
          <a:lstStyle/>
          <a:p>
            <a:pPr>
              <a:buNone/>
            </a:pPr>
            <a:r>
              <a:rPr lang="en-US" sz="3200" b="1" dirty="0">
                <a:solidFill>
                  <a:schemeClr val="accent1"/>
                </a:solidFill>
                <a:latin typeface="Times New Roman" pitchFamily="18" charset="0"/>
                <a:ea typeface="+mj-ea"/>
                <a:cs typeface="Times New Roman" pitchFamily="18" charset="0"/>
              </a:rPr>
              <a:t>The Java Language:</a:t>
            </a:r>
          </a:p>
          <a:p>
            <a:r>
              <a:rPr lang="en-US" sz="2400" dirty="0">
                <a:latin typeface="Times New Roman" panose="02020603050405020304" pitchFamily="18" charset="0"/>
                <a:cs typeface="Times New Roman" panose="02020603050405020304" pitchFamily="18" charset="0"/>
              </a:rPr>
              <a:t>Java was initiated by </a:t>
            </a:r>
            <a:r>
              <a:rPr lang="en-US" sz="2400" b="1" dirty="0">
                <a:latin typeface="Times New Roman" panose="02020603050405020304" pitchFamily="18" charset="0"/>
                <a:cs typeface="Times New Roman" panose="02020603050405020304" pitchFamily="18" charset="0"/>
              </a:rPr>
              <a:t>James Gosling </a:t>
            </a:r>
            <a:r>
              <a:rPr lang="en-US" sz="2400" dirty="0">
                <a:latin typeface="Times New Roman" panose="02020603050405020304" pitchFamily="18" charset="0"/>
                <a:cs typeface="Times New Roman" panose="02020603050405020304" pitchFamily="18" charset="0"/>
              </a:rPr>
              <a:t>and others at </a:t>
            </a:r>
            <a:r>
              <a:rPr lang="en-US" sz="2400" b="1" dirty="0">
                <a:latin typeface="Times New Roman" panose="02020603050405020304" pitchFamily="18" charset="0"/>
                <a:cs typeface="Times New Roman" panose="02020603050405020304" pitchFamily="18" charset="0"/>
              </a:rPr>
              <a:t>Sun Microsystems </a:t>
            </a:r>
            <a:r>
              <a:rPr lang="en-US" sz="2400" dirty="0">
                <a:latin typeface="Times New Roman" panose="02020603050405020304" pitchFamily="18" charset="0"/>
                <a:cs typeface="Times New Roman" panose="02020603050405020304" pitchFamily="18" charset="0"/>
              </a:rPr>
              <a:t>in 1991.</a:t>
            </a:r>
          </a:p>
          <a:p>
            <a:r>
              <a:rPr lang="en-US" sz="2400" dirty="0">
                <a:latin typeface="Times New Roman" panose="02020603050405020304" pitchFamily="18" charset="0"/>
                <a:cs typeface="Times New Roman" panose="02020603050405020304" pitchFamily="18" charset="0"/>
              </a:rPr>
              <a:t>Team: Mike Sheridan </a:t>
            </a:r>
            <a:r>
              <a:rPr lang="en-US" sz="2400" b="1" dirty="0">
                <a:latin typeface="Times New Roman" panose="02020603050405020304" pitchFamily="18" charset="0"/>
                <a:cs typeface="Times New Roman" panose="02020603050405020304" pitchFamily="18" charset="0"/>
              </a:rPr>
              <a:t>and </a:t>
            </a:r>
            <a:r>
              <a:rPr lang="en-US" sz="2400" dirty="0">
                <a:latin typeface="Times New Roman" panose="02020603050405020304" pitchFamily="18" charset="0"/>
                <a:cs typeface="Times New Roman" panose="02020603050405020304" pitchFamily="18" charset="0"/>
              </a:rPr>
              <a:t>Patrick Naughton  </a:t>
            </a:r>
          </a:p>
          <a:p>
            <a:r>
              <a:rPr lang="en-US" sz="2400" dirty="0">
                <a:latin typeface="Times New Roman" panose="02020603050405020304" pitchFamily="18" charset="0"/>
                <a:cs typeface="Times New Roman" panose="02020603050405020304" pitchFamily="18" charset="0"/>
              </a:rPr>
              <a:t>This language was initially called </a:t>
            </a:r>
            <a:r>
              <a:rPr lang="en-US" sz="2400" b="1" dirty="0">
                <a:latin typeface="Times New Roman" panose="02020603050405020304" pitchFamily="18" charset="0"/>
                <a:cs typeface="Times New Roman" panose="02020603050405020304" pitchFamily="18" charset="0"/>
              </a:rPr>
              <a:t>“OAK” </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Later it was renamed as </a:t>
            </a:r>
            <a:r>
              <a:rPr lang="en-US" sz="2400" b="1" dirty="0">
                <a:latin typeface="Times New Roman" panose="02020603050405020304" pitchFamily="18" charset="0"/>
                <a:cs typeface="Times New Roman" panose="02020603050405020304" pitchFamily="18" charset="0"/>
              </a:rPr>
              <a:t>“JAVA” </a:t>
            </a:r>
            <a:r>
              <a:rPr lang="en-US" sz="2400" dirty="0">
                <a:latin typeface="Times New Roman" panose="02020603050405020304" pitchFamily="18" charset="0"/>
                <a:cs typeface="Times New Roman" panose="02020603050405020304" pitchFamily="18" charset="0"/>
              </a:rPr>
              <a:t>in 1995.</a:t>
            </a:r>
            <a:endParaRPr lang="en-US" sz="2400" b="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It is one of the world’s most widely used computer language.</a:t>
            </a:r>
          </a:p>
          <a:p>
            <a:r>
              <a:rPr lang="en-US" sz="2400" dirty="0">
                <a:latin typeface="Times New Roman" panose="02020603050405020304" pitchFamily="18" charset="0"/>
                <a:cs typeface="Times New Roman" panose="02020603050405020304" pitchFamily="18" charset="0"/>
              </a:rPr>
              <a:t>From practical point of view, it is an excellent language to learn.</a:t>
            </a:r>
          </a:p>
          <a:p>
            <a:r>
              <a:rPr lang="en-US" sz="2400" dirty="0">
                <a:latin typeface="Times New Roman" panose="02020603050405020304" pitchFamily="18" charset="0"/>
                <a:cs typeface="Times New Roman" panose="02020603050405020304" pitchFamily="18" charset="0"/>
              </a:rPr>
              <a:t>Java was perfect for the Web.</a:t>
            </a:r>
          </a:p>
          <a:p>
            <a:pPr>
              <a:buNone/>
            </a:pPr>
            <a:endParaRPr lang="en-US" sz="2400" dirty="0">
              <a:latin typeface="Times New Roman" panose="02020603050405020304" pitchFamily="18" charset="0"/>
              <a:cs typeface="Times New Roman" panose="02020603050405020304" pitchFamily="18" charset="0"/>
            </a:endParaRPr>
          </a:p>
          <a:p>
            <a:pPr>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8686800" cy="487362"/>
          </a:xfrm>
        </p:spPr>
        <p:txBody>
          <a:bodyPr>
            <a:normAutofit fontScale="90000"/>
          </a:bodyPr>
          <a:lstStyle/>
          <a:p>
            <a:r>
              <a:rPr lang="en-US" sz="3600" b="1" dirty="0">
                <a:latin typeface="Times New Roman" pitchFamily="18" charset="0"/>
                <a:cs typeface="Times New Roman" pitchFamily="18" charset="0"/>
              </a:rPr>
              <a:t>The Compilation and execution process of a java program</a:t>
            </a:r>
          </a:p>
        </p:txBody>
      </p:sp>
      <p:sp>
        <p:nvSpPr>
          <p:cNvPr id="3" name="Content Placeholder 2"/>
          <p:cNvSpPr>
            <a:spLocks noGrp="1"/>
          </p:cNvSpPr>
          <p:nvPr>
            <p:ph idx="1"/>
          </p:nvPr>
        </p:nvSpPr>
        <p:spPr>
          <a:xfrm>
            <a:off x="457200" y="1524000"/>
            <a:ext cx="8686800" cy="5029200"/>
          </a:xfrm>
        </p:spPr>
        <p:txBody>
          <a:bodyPr>
            <a:normAutofit fontScale="70000" lnSpcReduction="20000"/>
          </a:bodyPr>
          <a:lstStyle/>
          <a:p>
            <a:pPr fontAlgn="base">
              <a:buNone/>
            </a:pPr>
            <a:r>
              <a:rPr lang="en-IN" sz="2600" b="1" dirty="0">
                <a:latin typeface="Times New Roman" pitchFamily="18" charset="0"/>
                <a:cs typeface="Times New Roman" pitchFamily="18" charset="0"/>
              </a:rPr>
              <a:t>Compilation</a:t>
            </a:r>
          </a:p>
          <a:p>
            <a:pPr algn="just" fontAlgn="base">
              <a:buFont typeface="Wingdings" panose="05000000000000000000" pitchFamily="2" charset="2"/>
              <a:buChar char="Ø"/>
            </a:pPr>
            <a:r>
              <a:rPr lang="en-IN" sz="2600" dirty="0">
                <a:latin typeface="Times New Roman" pitchFamily="18" charset="0"/>
                <a:cs typeface="Times New Roman" pitchFamily="18" charset="0"/>
              </a:rPr>
              <a:t>     First, the source ‘.java’ file is passed through the compiler, which   then</a:t>
            </a:r>
          </a:p>
          <a:p>
            <a:pPr marL="0" indent="0" algn="just" fontAlgn="base">
              <a:buNone/>
            </a:pPr>
            <a:r>
              <a:rPr lang="en-IN" sz="2600" dirty="0">
                <a:latin typeface="Times New Roman" pitchFamily="18" charset="0"/>
                <a:cs typeface="Times New Roman" pitchFamily="18" charset="0"/>
              </a:rPr>
              <a:t>           encodes the source code into a machine independent encoding, known as</a:t>
            </a:r>
          </a:p>
          <a:p>
            <a:pPr marL="0" indent="0" algn="just" fontAlgn="base">
              <a:buNone/>
            </a:pPr>
            <a:r>
              <a:rPr lang="en-IN" sz="2600" dirty="0">
                <a:latin typeface="Times New Roman" pitchFamily="18" charset="0"/>
                <a:cs typeface="Times New Roman" pitchFamily="18" charset="0"/>
              </a:rPr>
              <a:t>           Bytecode. </a:t>
            </a:r>
          </a:p>
          <a:p>
            <a:pPr algn="just" fontAlgn="base">
              <a:buFont typeface="Wingdings" panose="05000000000000000000" pitchFamily="2" charset="2"/>
              <a:buChar char="Ø"/>
            </a:pPr>
            <a:r>
              <a:rPr lang="en-IN" sz="2600" dirty="0">
                <a:latin typeface="Times New Roman" pitchFamily="18" charset="0"/>
                <a:cs typeface="Times New Roman" pitchFamily="18" charset="0"/>
              </a:rPr>
              <a:t>    The content of each class contained in the source file is stored in a separate</a:t>
            </a:r>
          </a:p>
          <a:p>
            <a:pPr marL="0" indent="0" algn="just" fontAlgn="base">
              <a:buNone/>
            </a:pPr>
            <a:r>
              <a:rPr lang="en-IN" sz="2600" dirty="0">
                <a:latin typeface="Times New Roman" pitchFamily="18" charset="0"/>
                <a:cs typeface="Times New Roman" pitchFamily="18" charset="0"/>
              </a:rPr>
              <a:t>         ‘.class’ file. </a:t>
            </a:r>
          </a:p>
          <a:p>
            <a:pPr fontAlgn="base">
              <a:buNone/>
            </a:pPr>
            <a:r>
              <a:rPr lang="en-IN" sz="2600" b="1" dirty="0">
                <a:latin typeface="Times New Roman" pitchFamily="18" charset="0"/>
                <a:cs typeface="Times New Roman" pitchFamily="18" charset="0"/>
              </a:rPr>
              <a:t>Execution</a:t>
            </a:r>
          </a:p>
          <a:p>
            <a:pPr algn="just">
              <a:buFont typeface="Wingdings" panose="05000000000000000000" pitchFamily="2" charset="2"/>
              <a:buChar char="Ø"/>
            </a:pPr>
            <a:r>
              <a:rPr lang="en-IN" sz="2600" dirty="0">
                <a:latin typeface="Times New Roman" pitchFamily="18" charset="0"/>
                <a:cs typeface="Times New Roman" pitchFamily="18" charset="0"/>
              </a:rPr>
              <a:t>    The main class file (the class that contains the method main) is passed to the</a:t>
            </a:r>
          </a:p>
          <a:p>
            <a:pPr marL="0" indent="0" algn="just">
              <a:buNone/>
            </a:pPr>
            <a:r>
              <a:rPr lang="en-IN" sz="2600" dirty="0">
                <a:latin typeface="Times New Roman" pitchFamily="18" charset="0"/>
                <a:cs typeface="Times New Roman" pitchFamily="18" charset="0"/>
              </a:rPr>
              <a:t>           JVM,</a:t>
            </a:r>
            <a:r>
              <a:rPr lang="en-US" sz="2600" dirty="0">
                <a:latin typeface="Times New Roman" pitchFamily="18" charset="0"/>
                <a:cs typeface="Times New Roman" pitchFamily="18" charset="0"/>
              </a:rPr>
              <a:t>.</a:t>
            </a:r>
          </a:p>
          <a:p>
            <a:pPr marL="0" indent="0" algn="just">
              <a:buNone/>
            </a:pPr>
            <a:r>
              <a:rPr lang="en-IN" sz="2600" b="1" dirty="0">
                <a:latin typeface="Times New Roman" pitchFamily="18" charset="0"/>
                <a:cs typeface="Times New Roman" pitchFamily="18" charset="0"/>
              </a:rPr>
              <a:t>Class Loader</a:t>
            </a:r>
            <a:r>
              <a:rPr lang="en-IN" sz="2600" dirty="0">
                <a:latin typeface="Times New Roman" pitchFamily="18" charset="0"/>
                <a:cs typeface="Times New Roman" pitchFamily="18" charset="0"/>
              </a:rPr>
              <a:t>: </a:t>
            </a:r>
          </a:p>
          <a:p>
            <a:pPr marL="0" indent="0" algn="just">
              <a:buNone/>
            </a:pPr>
            <a:r>
              <a:rPr lang="en-IN" sz="2600" dirty="0">
                <a:latin typeface="Times New Roman" pitchFamily="18" charset="0"/>
                <a:cs typeface="Times New Roman" pitchFamily="18" charset="0"/>
              </a:rPr>
              <a:t>      All the other classes referenced in the program are loaded through the class</a:t>
            </a:r>
          </a:p>
          <a:p>
            <a:pPr marL="0" indent="0" algn="just">
              <a:buNone/>
            </a:pPr>
            <a:r>
              <a:rPr lang="en-IN" sz="2600" dirty="0">
                <a:latin typeface="Times New Roman" pitchFamily="18" charset="0"/>
                <a:cs typeface="Times New Roman" pitchFamily="18" charset="0"/>
              </a:rPr>
              <a:t>      loader.</a:t>
            </a:r>
          </a:p>
          <a:p>
            <a:pPr marL="0" indent="0" algn="just">
              <a:buNone/>
            </a:pPr>
            <a:r>
              <a:rPr lang="en-IN" sz="2600" b="1" dirty="0">
                <a:latin typeface="Times New Roman" pitchFamily="18" charset="0"/>
                <a:cs typeface="Times New Roman" pitchFamily="18" charset="0"/>
              </a:rPr>
              <a:t>Bytecode Verifier</a:t>
            </a:r>
            <a:r>
              <a:rPr lang="en-IN" sz="2600" dirty="0">
                <a:latin typeface="Times New Roman" pitchFamily="18" charset="0"/>
                <a:cs typeface="Times New Roman" pitchFamily="18" charset="0"/>
              </a:rPr>
              <a:t>: Check that the instructions don’t perform damaging actions.</a:t>
            </a:r>
          </a:p>
          <a:p>
            <a:pPr marL="0" indent="0" algn="just">
              <a:buNone/>
            </a:pPr>
            <a:r>
              <a:rPr lang="en-IN" sz="2600" b="1" dirty="0">
                <a:latin typeface="Times New Roman" pitchFamily="18" charset="0"/>
                <a:cs typeface="Times New Roman" pitchFamily="18" charset="0"/>
              </a:rPr>
              <a:t>Just-In-Time Compiler</a:t>
            </a:r>
            <a:r>
              <a:rPr lang="en-IN" sz="2600" dirty="0">
                <a:latin typeface="Times New Roman" pitchFamily="18" charset="0"/>
                <a:cs typeface="Times New Roman" pitchFamily="18" charset="0"/>
              </a:rPr>
              <a:t>: Convert the loaded bytecode into machine code.</a:t>
            </a:r>
            <a:endParaRPr lang="en-US" sz="2600" dirty="0">
              <a:latin typeface="Times New Roman" pitchFamily="18" charset="0"/>
              <a:cs typeface="Times New Roman" pitchFamily="18" charset="0"/>
            </a:endParaRPr>
          </a:p>
          <a:p>
            <a:pPr>
              <a:buNone/>
            </a:pPr>
            <a:endParaRPr lang="en-US" sz="2600" dirty="0">
              <a:latin typeface="Times New Roman" pitchFamily="18" charset="0"/>
              <a:cs typeface="Times New Roman" pitchFamily="18" charset="0"/>
            </a:endParaRPr>
          </a:p>
          <a:p>
            <a:pPr>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8686800" cy="487362"/>
          </a:xfrm>
        </p:spPr>
        <p:txBody>
          <a:bodyPr>
            <a:normAutofit fontScale="90000"/>
          </a:bodyPr>
          <a:lstStyle/>
          <a:p>
            <a:r>
              <a:rPr lang="en-US" sz="3600" b="1" dirty="0">
                <a:latin typeface="Times New Roman" pitchFamily="18" charset="0"/>
                <a:cs typeface="Times New Roman" pitchFamily="18" charset="0"/>
              </a:rPr>
              <a:t>The Compilation and execution process of a java program</a:t>
            </a:r>
          </a:p>
        </p:txBody>
      </p:sp>
      <p:sp>
        <p:nvSpPr>
          <p:cNvPr id="3" name="Content Placeholder 2"/>
          <p:cNvSpPr>
            <a:spLocks noGrp="1"/>
          </p:cNvSpPr>
          <p:nvPr>
            <p:ph idx="1"/>
          </p:nvPr>
        </p:nvSpPr>
        <p:spPr>
          <a:xfrm>
            <a:off x="457200" y="914400"/>
            <a:ext cx="8229600" cy="5638800"/>
          </a:xfrm>
        </p:spPr>
        <p:txBody>
          <a:bodyPr>
            <a:normAutofit/>
          </a:bodyPr>
          <a:lstStyle/>
          <a:p>
            <a:pPr>
              <a:buNone/>
            </a:pPr>
            <a:r>
              <a:rPr lang="en-US" sz="2800" dirty="0">
                <a:latin typeface="Times New Roman" pitchFamily="18" charset="0"/>
                <a:cs typeface="Times New Roman" pitchFamily="18" charset="0"/>
              </a:rPr>
              <a:t>.</a:t>
            </a:r>
          </a:p>
          <a:p>
            <a:pPr>
              <a:buNone/>
            </a:pPr>
            <a:endParaRPr lang="en-US" sz="2800" dirty="0">
              <a:latin typeface="Times New Roman" pitchFamily="18" charset="0"/>
              <a:cs typeface="Times New Roman" pitchFamily="18" charset="0"/>
            </a:endParaRPr>
          </a:p>
          <a:p>
            <a:pPr>
              <a:buNone/>
            </a:pPr>
            <a:endParaRPr lang="en-US" dirty="0"/>
          </a:p>
        </p:txBody>
      </p:sp>
      <p:pic>
        <p:nvPicPr>
          <p:cNvPr id="1026" name="Picture 2" descr="https://media.geeksforgeeks.org/wp-content/uploads/java.jpg"/>
          <p:cNvPicPr>
            <a:picLocks noChangeAspect="1" noChangeArrowheads="1"/>
          </p:cNvPicPr>
          <p:nvPr/>
        </p:nvPicPr>
        <p:blipFill>
          <a:blip r:embed="rId2"/>
          <a:srcRect/>
          <a:stretch>
            <a:fillRect/>
          </a:stretch>
        </p:blipFill>
        <p:spPr bwMode="auto">
          <a:xfrm>
            <a:off x="457200" y="1371600"/>
            <a:ext cx="8191500" cy="4800600"/>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JVM</a:t>
            </a:r>
          </a:p>
        </p:txBody>
      </p:sp>
      <p:sp>
        <p:nvSpPr>
          <p:cNvPr id="3" name="Content Placeholder 2"/>
          <p:cNvSpPr>
            <a:spLocks noGrp="1"/>
          </p:cNvSpPr>
          <p:nvPr>
            <p:ph idx="1"/>
          </p:nvPr>
        </p:nvSpPr>
        <p:spPr>
          <a:xfrm>
            <a:off x="609598" y="1285860"/>
            <a:ext cx="7248549" cy="4755503"/>
          </a:xfrm>
        </p:spPr>
        <p:txBody>
          <a:bodyPr/>
          <a:lstStyle/>
          <a:p>
            <a:r>
              <a:rPr lang="en-US" dirty="0">
                <a:hlinkClick r:id="rId2"/>
              </a:rPr>
              <a:t>Java Virtual Machine</a:t>
            </a:r>
            <a:r>
              <a:rPr lang="en-US" dirty="0"/>
              <a:t> is a virtual machine that enables the computer to run the Java program. </a:t>
            </a:r>
          </a:p>
          <a:p>
            <a:r>
              <a:rPr lang="en-US" dirty="0"/>
              <a:t>JVM acts like a run-time engine which calls the main method present in the Java code. </a:t>
            </a:r>
          </a:p>
          <a:p>
            <a:r>
              <a:rPr lang="en-US" dirty="0"/>
              <a:t>JVM is the specification which must be implemented in the computer system. </a:t>
            </a:r>
          </a:p>
          <a:p>
            <a:r>
              <a:rPr lang="en-US" dirty="0"/>
              <a:t>The Java code is compiled by JVM to be a </a:t>
            </a:r>
            <a:r>
              <a:rPr lang="en-US" dirty="0" err="1"/>
              <a:t>Bytecode</a:t>
            </a:r>
            <a:r>
              <a:rPr lang="en-US" dirty="0"/>
              <a:t> which is machine independent and close to the native code.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686800" cy="5638800"/>
          </a:xfrm>
        </p:spPr>
        <p:txBody>
          <a:bodyPr>
            <a:normAutofit/>
          </a:bodyPr>
          <a:lstStyle/>
          <a:p>
            <a:pPr fontAlgn="base">
              <a:buNone/>
            </a:pPr>
            <a:r>
              <a:rPr lang="en-IN" sz="2400" b="1" dirty="0">
                <a:latin typeface="Times New Roman" panose="02020603050405020304" pitchFamily="18" charset="0"/>
                <a:cs typeface="Times New Roman" panose="02020603050405020304" pitchFamily="18" charset="0"/>
              </a:rPr>
              <a:t>JAVA DEVELOPMENT KIT</a:t>
            </a:r>
          </a:p>
          <a:p>
            <a:pPr algn="just" fontAlgn="base">
              <a:buNone/>
            </a:pPr>
            <a:r>
              <a:rPr lang="en-IN" sz="2400" dirty="0">
                <a:latin typeface="Times New Roman" panose="02020603050405020304" pitchFamily="18" charset="0"/>
                <a:cs typeface="Times New Roman" panose="02020603050405020304" pitchFamily="18" charset="0"/>
              </a:rPr>
              <a:t>     Used for developing Java applications and applets. It includes the Java Runtime Environment (JRE), an interpreter/loader (Java), a compiler (</a:t>
            </a:r>
            <a:r>
              <a:rPr lang="en-IN" sz="2400" dirty="0" err="1">
                <a:latin typeface="Times New Roman" panose="02020603050405020304" pitchFamily="18" charset="0"/>
                <a:cs typeface="Times New Roman" panose="02020603050405020304" pitchFamily="18" charset="0"/>
              </a:rPr>
              <a:t>javac</a:t>
            </a:r>
            <a:r>
              <a:rPr lang="en-IN" sz="2400" dirty="0">
                <a:latin typeface="Times New Roman" panose="02020603050405020304" pitchFamily="18" charset="0"/>
                <a:cs typeface="Times New Roman" panose="02020603050405020304" pitchFamily="18" charset="0"/>
              </a:rPr>
              <a:t>), an archiver (jar)</a:t>
            </a:r>
            <a:endParaRPr lang="en-IN" sz="2400" b="1" dirty="0">
              <a:latin typeface="Times New Roman" panose="02020603050405020304" pitchFamily="18" charset="0"/>
              <a:cs typeface="Times New Roman" panose="02020603050405020304" pitchFamily="18" charset="0"/>
            </a:endParaRPr>
          </a:p>
          <a:p>
            <a:pPr fontAlgn="base">
              <a:buNone/>
            </a:pPr>
            <a:r>
              <a:rPr lang="en-IN" sz="2400" b="1" dirty="0">
                <a:latin typeface="Times New Roman" panose="02020603050405020304" pitchFamily="18" charset="0"/>
                <a:cs typeface="Times New Roman" panose="02020603050405020304" pitchFamily="18" charset="0"/>
              </a:rPr>
              <a:t>JAVA RUNTIME ENVIRONMENT</a:t>
            </a:r>
            <a:endParaRPr lang="en-IN" sz="2400" dirty="0">
              <a:latin typeface="Times New Roman" panose="02020603050405020304" pitchFamily="18" charset="0"/>
              <a:cs typeface="Times New Roman" panose="02020603050405020304" pitchFamily="18" charset="0"/>
            </a:endParaRPr>
          </a:p>
          <a:p>
            <a:pPr algn="just" fontAlgn="base">
              <a:buNone/>
            </a:pPr>
            <a:r>
              <a:rPr lang="en-IN" sz="2400" dirty="0">
                <a:latin typeface="Times New Roman" panose="02020603050405020304" pitchFamily="18" charset="0"/>
                <a:cs typeface="Times New Roman" panose="02020603050405020304" pitchFamily="18" charset="0"/>
              </a:rPr>
              <a:t>     </a:t>
            </a:r>
            <a:r>
              <a:rPr lang="en-US" sz="2400" dirty="0">
                <a:latin typeface="Times New Roman" pitchFamily="18" charset="0"/>
                <a:cs typeface="Times New Roman" pitchFamily="18" charset="0"/>
              </a:rPr>
              <a:t>JRE stands for Java Runtime Environment. It is the implementation of JVM. The Java Runtime Environment is a set of software tools which are used for developing Java applications. It is used to provide the runtime environment.</a:t>
            </a:r>
          </a:p>
          <a:p>
            <a:pPr algn="just" fontAlgn="base">
              <a:buNone/>
            </a:pPr>
            <a:r>
              <a:rPr lang="en-US" sz="2400" dirty="0">
                <a:latin typeface="Times New Roman" pitchFamily="18" charset="0"/>
                <a:cs typeface="Times New Roman" pitchFamily="18" charset="0"/>
              </a:rPr>
              <a:t>	 It is the implementation of JVM. It physically exists. It contains a set of libraries + other files that JVM uses at runtime.</a:t>
            </a:r>
          </a:p>
          <a:p>
            <a:pPr>
              <a:buNone/>
            </a:pPr>
            <a:r>
              <a:rPr lang="en-US" sz="2400" dirty="0">
                <a:latin typeface="Times New Roman" pitchFamily="18" charset="0"/>
                <a:cs typeface="Times New Roman" pitchFamily="18" charset="0"/>
              </a:rPr>
              <a:t>		  </a:t>
            </a:r>
          </a:p>
          <a:p>
            <a:pPr>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914400"/>
            <a:ext cx="8382000" cy="6400800"/>
          </a:xfrm>
        </p:spPr>
        <p:txBody>
          <a:bodyPr>
            <a:noAutofit/>
          </a:bodyPr>
          <a:lstStyle/>
          <a:p>
            <a:pPr>
              <a:buNone/>
            </a:pPr>
            <a:r>
              <a:rPr lang="en-US" sz="2400" b="1" u="sng" dirty="0">
                <a:latin typeface="Times New Roman" panose="02020603050405020304" pitchFamily="18" charset="0"/>
                <a:cs typeface="Times New Roman" panose="02020603050405020304" pitchFamily="18" charset="0"/>
              </a:rPr>
              <a:t>Features of Java:</a:t>
            </a:r>
            <a:r>
              <a:rPr lang="en-US" sz="2400" b="1" dirty="0">
                <a:latin typeface="Times New Roman" panose="02020603050405020304" pitchFamily="18" charset="0"/>
                <a:cs typeface="Times New Roman" panose="02020603050405020304" pitchFamily="18" charset="0"/>
              </a:rPr>
              <a:t> </a:t>
            </a:r>
          </a:p>
          <a:p>
            <a:pPr>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Simple</a:t>
            </a:r>
          </a:p>
          <a:p>
            <a:r>
              <a:rPr lang="en-IN" sz="2400" dirty="0">
                <a:latin typeface="Times New Roman" panose="02020603050405020304" pitchFamily="18" charset="0"/>
                <a:cs typeface="Times New Roman" panose="02020603050405020304" pitchFamily="18" charset="0"/>
              </a:rPr>
              <a:t>Object-Oriented</a:t>
            </a:r>
          </a:p>
          <a:p>
            <a:r>
              <a:rPr lang="en-IN" sz="2400" dirty="0">
                <a:latin typeface="Times New Roman" panose="02020603050405020304" pitchFamily="18" charset="0"/>
                <a:cs typeface="Times New Roman" panose="02020603050405020304" pitchFamily="18" charset="0"/>
              </a:rPr>
              <a:t>Portable</a:t>
            </a:r>
          </a:p>
          <a:p>
            <a:r>
              <a:rPr lang="en-IN" sz="2400" dirty="0">
                <a:latin typeface="Times New Roman" panose="02020603050405020304" pitchFamily="18" charset="0"/>
                <a:cs typeface="Times New Roman" panose="02020603050405020304" pitchFamily="18" charset="0"/>
              </a:rPr>
              <a:t>Platform independent</a:t>
            </a:r>
          </a:p>
          <a:p>
            <a:r>
              <a:rPr lang="en-IN" sz="2400" dirty="0">
                <a:latin typeface="Times New Roman" panose="02020603050405020304" pitchFamily="18" charset="0"/>
                <a:cs typeface="Times New Roman" panose="02020603050405020304" pitchFamily="18" charset="0"/>
              </a:rPr>
              <a:t>Secured</a:t>
            </a:r>
          </a:p>
          <a:p>
            <a:r>
              <a:rPr lang="en-IN" sz="2400" dirty="0">
                <a:latin typeface="Times New Roman" panose="02020603050405020304" pitchFamily="18" charset="0"/>
                <a:cs typeface="Times New Roman" panose="02020603050405020304" pitchFamily="18" charset="0"/>
              </a:rPr>
              <a:t>Robust</a:t>
            </a:r>
          </a:p>
          <a:p>
            <a:r>
              <a:rPr lang="en-IN" sz="2400" dirty="0">
                <a:latin typeface="Times New Roman" panose="02020603050405020304" pitchFamily="18" charset="0"/>
                <a:cs typeface="Times New Roman" panose="02020603050405020304" pitchFamily="18" charset="0"/>
              </a:rPr>
              <a:t>Architecture neutral</a:t>
            </a:r>
          </a:p>
          <a:p>
            <a:r>
              <a:rPr lang="en-IN" sz="2400" dirty="0">
                <a:latin typeface="Times New Roman" panose="02020603050405020304" pitchFamily="18" charset="0"/>
                <a:cs typeface="Times New Roman" panose="02020603050405020304" pitchFamily="18" charset="0"/>
              </a:rPr>
              <a:t>High Performance</a:t>
            </a:r>
          </a:p>
          <a:p>
            <a:r>
              <a:rPr lang="en-IN" sz="2400" dirty="0">
                <a:latin typeface="Times New Roman" panose="02020603050405020304" pitchFamily="18" charset="0"/>
                <a:cs typeface="Times New Roman" panose="02020603050405020304" pitchFamily="18" charset="0"/>
              </a:rPr>
              <a:t>Multithreaded</a:t>
            </a:r>
          </a:p>
          <a:p>
            <a:r>
              <a:rPr lang="en-IN" sz="2400" dirty="0">
                <a:latin typeface="Times New Roman" panose="02020603050405020304" pitchFamily="18" charset="0"/>
                <a:cs typeface="Times New Roman" panose="02020603050405020304" pitchFamily="18" charset="0"/>
              </a:rPr>
              <a:t>Dynamic</a:t>
            </a:r>
          </a:p>
          <a:p>
            <a:endParaRPr lang="en-IN" sz="2400" b="1" u="sng"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762000"/>
            <a:ext cx="8458200" cy="5943600"/>
          </a:xfrm>
        </p:spPr>
        <p:txBody>
          <a:bodyPr>
            <a:normAutofit/>
          </a:bodyPr>
          <a:lstStyle/>
          <a:p>
            <a:pPr algn="just">
              <a:buNone/>
            </a:pPr>
            <a:r>
              <a:rPr lang="en-IN" sz="2400" b="1" dirty="0">
                <a:latin typeface="Times New Roman" panose="02020603050405020304" pitchFamily="18" charset="0"/>
                <a:cs typeface="Times New Roman" panose="02020603050405020304" pitchFamily="18" charset="0"/>
              </a:rPr>
              <a:t>Simple:</a:t>
            </a:r>
          </a:p>
          <a:p>
            <a:pPr algn="just"/>
            <a:r>
              <a:rPr lang="en-IN" sz="2400" dirty="0">
                <a:latin typeface="Times New Roman" panose="02020603050405020304" pitchFamily="18" charset="0"/>
                <a:cs typeface="Times New Roman" panose="02020603050405020304" pitchFamily="18" charset="0"/>
              </a:rPr>
              <a:t>Java is very easy to learn and its syntax is simple, clean and easy to understand.</a:t>
            </a:r>
          </a:p>
          <a:p>
            <a:pPr algn="just"/>
            <a:r>
              <a:rPr lang="en-IN" sz="2400" dirty="0">
                <a:latin typeface="Times New Roman" panose="02020603050405020304" pitchFamily="18" charset="0"/>
                <a:cs typeface="Times New Roman" panose="02020603050405020304" pitchFamily="18" charset="0"/>
              </a:rPr>
              <a:t> According to Sun, Java language is a simple programming language because:</a:t>
            </a:r>
          </a:p>
          <a:p>
            <a:pPr algn="just">
              <a:buNone/>
            </a:pPr>
            <a:r>
              <a:rPr lang="en-IN" sz="2400" dirty="0">
                <a:latin typeface="Times New Roman" panose="02020603050405020304" pitchFamily="18" charset="0"/>
                <a:cs typeface="Times New Roman" panose="02020603050405020304" pitchFamily="18" charset="0"/>
              </a:rPr>
              <a:t>		Java syntax is based on C++.</a:t>
            </a:r>
          </a:p>
          <a:p>
            <a:pPr algn="just">
              <a:buNone/>
            </a:pPr>
            <a:r>
              <a:rPr lang="en-IN" sz="2400" dirty="0">
                <a:latin typeface="Times New Roman" panose="02020603050405020304" pitchFamily="18" charset="0"/>
                <a:cs typeface="Times New Roman" panose="02020603050405020304" pitchFamily="18" charset="0"/>
              </a:rPr>
              <a:t>		Java has removed many confusing and rarely-used 	features e.g. explicit pointers, operator 	overloading etc.</a:t>
            </a:r>
          </a:p>
          <a:p>
            <a:pPr algn="just">
              <a:buNone/>
            </a:pPr>
            <a:r>
              <a:rPr lang="en-IN" sz="2400" b="1" dirty="0">
                <a:latin typeface="Times New Roman" panose="02020603050405020304" pitchFamily="18" charset="0"/>
                <a:cs typeface="Times New Roman" panose="02020603050405020304" pitchFamily="18" charset="0"/>
              </a:rPr>
              <a:t>Platform Independent:</a:t>
            </a:r>
          </a:p>
          <a:p>
            <a:pPr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The meaning of platform-independent is that the java compiled code(byte code) can run on all operating systems.</a:t>
            </a:r>
            <a:r>
              <a:rPr lang="en-US" sz="2400" b="1" dirty="0">
                <a:latin typeface="Times New Roman" panose="02020603050405020304" pitchFamily="18" charset="0"/>
                <a:cs typeface="Times New Roman" panose="02020603050405020304" pitchFamily="18" charset="0"/>
              </a:rPr>
              <a:t> </a:t>
            </a:r>
          </a:p>
          <a:p>
            <a:pPr>
              <a:buNone/>
            </a:pPr>
            <a:endParaRPr lang="en-IN" sz="2800" b="1" dirty="0"/>
          </a:p>
          <a:p>
            <a:endParaRPr lang="en-IN" sz="2800" dirty="0"/>
          </a:p>
          <a:p>
            <a:endParaRPr lang="en-IN" sz="2800" dirty="0"/>
          </a:p>
          <a:p>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914400"/>
            <a:ext cx="8458200" cy="5638800"/>
          </a:xfrm>
        </p:spPr>
        <p:txBody>
          <a:bodyPr>
            <a:normAutofit/>
          </a:bodyPr>
          <a:lstStyle/>
          <a:p>
            <a:pPr algn="just">
              <a:buNone/>
            </a:pPr>
            <a:r>
              <a:rPr lang="en-IN" sz="2400" b="1" dirty="0">
                <a:latin typeface="Times New Roman" panose="02020603050405020304" pitchFamily="18" charset="0"/>
                <a:cs typeface="Times New Roman" panose="02020603050405020304" pitchFamily="18" charset="0"/>
              </a:rPr>
              <a:t>Object-oriented:</a:t>
            </a:r>
          </a:p>
          <a:p>
            <a:pPr algn="just"/>
            <a:r>
              <a:rPr lang="en-IN" sz="2400" dirty="0">
                <a:latin typeface="Times New Roman" panose="02020603050405020304" pitchFamily="18" charset="0"/>
                <a:cs typeface="Times New Roman" panose="02020603050405020304" pitchFamily="18" charset="0"/>
              </a:rPr>
              <a:t>Java is object-oriented programming language. Everything in Java is an object.</a:t>
            </a:r>
          </a:p>
          <a:p>
            <a:pPr algn="just"/>
            <a:r>
              <a:rPr lang="en-IN" sz="2400" dirty="0">
                <a:latin typeface="Times New Roman" panose="02020603050405020304" pitchFamily="18" charset="0"/>
                <a:cs typeface="Times New Roman" panose="02020603050405020304" pitchFamily="18" charset="0"/>
              </a:rPr>
              <a:t> Object-oriented means we organize our software as a combination of different types of objects that incorporates both data and behaviour.</a:t>
            </a:r>
          </a:p>
          <a:p>
            <a:pPr algn="just"/>
            <a:r>
              <a:rPr lang="en-IN" sz="2400" dirty="0">
                <a:latin typeface="Times New Roman" panose="02020603050405020304" pitchFamily="18" charset="0"/>
                <a:cs typeface="Times New Roman" panose="02020603050405020304" pitchFamily="18" charset="0"/>
              </a:rPr>
              <a:t>Object-oriented programming (OOPs) is a methodology that simplifies software development and maintenance by providing some rules.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7086601" cy="5638800"/>
          </a:xfrm>
        </p:spPr>
        <p:txBody>
          <a:bodyPr>
            <a:normAutofit fontScale="90000"/>
          </a:bodyPr>
          <a:lstStyle/>
          <a:p>
            <a:r>
              <a:rPr lang="en-US" dirty="0"/>
              <a:t>Secured:</a:t>
            </a:r>
            <a:br>
              <a:rPr lang="en-US" dirty="0"/>
            </a:br>
            <a:r>
              <a:rPr lang="en-US" sz="2700" dirty="0">
                <a:solidFill>
                  <a:schemeClr val="tx1">
                    <a:lumMod val="75000"/>
                    <a:lumOff val="25000"/>
                  </a:schemeClr>
                </a:solidFill>
                <a:latin typeface="Times New Roman" panose="02020603050405020304" pitchFamily="18" charset="0"/>
                <a:ea typeface="+mn-ea"/>
                <a:cs typeface="Times New Roman" panose="02020603050405020304" pitchFamily="18" charset="0"/>
              </a:rPr>
              <a:t>Java is best known for its security. With Java, we can develop virus-free systems. Java is secured because:</a:t>
            </a:r>
            <a:br>
              <a:rPr lang="en-US" sz="2700" dirty="0">
                <a:solidFill>
                  <a:schemeClr val="tx1">
                    <a:lumMod val="75000"/>
                    <a:lumOff val="25000"/>
                  </a:schemeClr>
                </a:solidFill>
                <a:latin typeface="Times New Roman" panose="02020603050405020304" pitchFamily="18" charset="0"/>
                <a:ea typeface="+mn-ea"/>
                <a:cs typeface="Times New Roman" panose="02020603050405020304" pitchFamily="18" charset="0"/>
              </a:rPr>
            </a:br>
            <a:r>
              <a:rPr lang="en-US" sz="2700" dirty="0">
                <a:solidFill>
                  <a:schemeClr val="tx1">
                    <a:lumMod val="75000"/>
                    <a:lumOff val="25000"/>
                  </a:schemeClr>
                </a:solidFill>
                <a:latin typeface="Times New Roman" panose="02020603050405020304" pitchFamily="18" charset="0"/>
                <a:ea typeface="+mn-ea"/>
                <a:cs typeface="Times New Roman" panose="02020603050405020304" pitchFamily="18" charset="0"/>
              </a:rPr>
              <a:t>No explicit pointer</a:t>
            </a:r>
            <a:br>
              <a:rPr lang="en-US" sz="2700" dirty="0">
                <a:solidFill>
                  <a:schemeClr val="tx1">
                    <a:lumMod val="75000"/>
                    <a:lumOff val="25000"/>
                  </a:schemeClr>
                </a:solidFill>
                <a:latin typeface="Times New Roman" panose="02020603050405020304" pitchFamily="18" charset="0"/>
                <a:ea typeface="+mn-ea"/>
                <a:cs typeface="Times New Roman" panose="02020603050405020304" pitchFamily="18" charset="0"/>
              </a:rPr>
            </a:br>
            <a:r>
              <a:rPr lang="en-US" sz="2700" dirty="0">
                <a:solidFill>
                  <a:schemeClr val="tx1">
                    <a:lumMod val="75000"/>
                    <a:lumOff val="25000"/>
                  </a:schemeClr>
                </a:solidFill>
                <a:latin typeface="Times New Roman" panose="02020603050405020304" pitchFamily="18" charset="0"/>
                <a:ea typeface="+mn-ea"/>
                <a:cs typeface="Times New Roman" panose="02020603050405020304" pitchFamily="18" charset="0"/>
              </a:rPr>
              <a:t>Java Programs run inside a virtual machine sandbox</a:t>
            </a:r>
            <a:br>
              <a:rPr lang="en-US" sz="2700" dirty="0">
                <a:solidFill>
                  <a:schemeClr val="tx1">
                    <a:lumMod val="75000"/>
                    <a:lumOff val="25000"/>
                  </a:schemeClr>
                </a:solidFill>
                <a:latin typeface="Times New Roman" panose="02020603050405020304" pitchFamily="18" charset="0"/>
                <a:ea typeface="+mn-ea"/>
                <a:cs typeface="Times New Roman" panose="02020603050405020304" pitchFamily="18" charset="0"/>
              </a:rPr>
            </a:br>
            <a:br>
              <a:rPr lang="en-US" sz="2700" dirty="0">
                <a:solidFill>
                  <a:schemeClr val="tx1">
                    <a:lumMod val="75000"/>
                    <a:lumOff val="25000"/>
                  </a:schemeClr>
                </a:solidFill>
                <a:latin typeface="Times New Roman" panose="02020603050405020304" pitchFamily="18" charset="0"/>
                <a:ea typeface="+mn-ea"/>
                <a:cs typeface="Times New Roman" panose="02020603050405020304" pitchFamily="18" charset="0"/>
              </a:rPr>
            </a:br>
            <a:r>
              <a:rPr lang="en-US" dirty="0"/>
              <a:t>Robust:</a:t>
            </a:r>
            <a:br>
              <a:rPr lang="en-US" sz="2000" dirty="0"/>
            </a:br>
            <a:r>
              <a:rPr lang="en-US" sz="2200" dirty="0">
                <a:solidFill>
                  <a:schemeClr val="tx1">
                    <a:lumMod val="75000"/>
                    <a:lumOff val="25000"/>
                  </a:schemeClr>
                </a:solidFill>
                <a:latin typeface="Times New Roman" panose="02020603050405020304" pitchFamily="18" charset="0"/>
                <a:ea typeface="+mn-ea"/>
                <a:cs typeface="Times New Roman" panose="02020603050405020304" pitchFamily="18" charset="0"/>
              </a:rPr>
              <a:t>The English mining of Robust is strong. Java is robust because:</a:t>
            </a:r>
            <a:br>
              <a:rPr lang="en-US" sz="2200" dirty="0">
                <a:solidFill>
                  <a:schemeClr val="tx1">
                    <a:lumMod val="75000"/>
                    <a:lumOff val="25000"/>
                  </a:schemeClr>
                </a:solidFill>
                <a:latin typeface="Times New Roman" panose="02020603050405020304" pitchFamily="18" charset="0"/>
                <a:ea typeface="+mn-ea"/>
                <a:cs typeface="Times New Roman" panose="02020603050405020304" pitchFamily="18" charset="0"/>
              </a:rPr>
            </a:br>
            <a:r>
              <a:rPr lang="en-US" sz="2200" dirty="0">
                <a:solidFill>
                  <a:schemeClr val="tx1">
                    <a:lumMod val="75000"/>
                    <a:lumOff val="25000"/>
                  </a:schemeClr>
                </a:solidFill>
                <a:latin typeface="Times New Roman" panose="02020603050405020304" pitchFamily="18" charset="0"/>
                <a:ea typeface="+mn-ea"/>
                <a:cs typeface="Times New Roman" panose="02020603050405020304" pitchFamily="18" charset="0"/>
              </a:rPr>
              <a:t>It uses strong memory management.</a:t>
            </a:r>
            <a:br>
              <a:rPr lang="en-US" sz="2200" dirty="0">
                <a:solidFill>
                  <a:schemeClr val="tx1">
                    <a:lumMod val="75000"/>
                    <a:lumOff val="25000"/>
                  </a:schemeClr>
                </a:solidFill>
                <a:latin typeface="Times New Roman" panose="02020603050405020304" pitchFamily="18" charset="0"/>
                <a:ea typeface="+mn-ea"/>
                <a:cs typeface="Times New Roman" panose="02020603050405020304" pitchFamily="18" charset="0"/>
              </a:rPr>
            </a:br>
            <a:r>
              <a:rPr lang="en-US" sz="2200" dirty="0">
                <a:solidFill>
                  <a:schemeClr val="tx1">
                    <a:lumMod val="75000"/>
                    <a:lumOff val="25000"/>
                  </a:schemeClr>
                </a:solidFill>
                <a:latin typeface="Times New Roman" panose="02020603050405020304" pitchFamily="18" charset="0"/>
                <a:ea typeface="+mn-ea"/>
                <a:cs typeface="Times New Roman" panose="02020603050405020304" pitchFamily="18" charset="0"/>
              </a:rPr>
              <a:t>There is a lack of pointers that avoids security problems.</a:t>
            </a:r>
            <a:br>
              <a:rPr lang="en-US" sz="2200" dirty="0">
                <a:solidFill>
                  <a:schemeClr val="tx1">
                    <a:lumMod val="75000"/>
                    <a:lumOff val="25000"/>
                  </a:schemeClr>
                </a:solidFill>
                <a:latin typeface="Times New Roman" panose="02020603050405020304" pitchFamily="18" charset="0"/>
                <a:ea typeface="+mn-ea"/>
                <a:cs typeface="Times New Roman" panose="02020603050405020304" pitchFamily="18" charset="0"/>
              </a:rPr>
            </a:br>
            <a:r>
              <a:rPr lang="en-US" sz="2200" dirty="0">
                <a:solidFill>
                  <a:schemeClr val="tx1">
                    <a:lumMod val="75000"/>
                    <a:lumOff val="25000"/>
                  </a:schemeClr>
                </a:solidFill>
                <a:latin typeface="Times New Roman" panose="02020603050405020304" pitchFamily="18" charset="0"/>
                <a:ea typeface="+mn-ea"/>
                <a:cs typeface="Times New Roman" panose="02020603050405020304" pitchFamily="18" charset="0"/>
              </a:rPr>
              <a:t>Java provides automatic garbage collection which runs on the Java Virtual Machine to get rid of objects which are not being used by a Java application anymore.</a:t>
            </a:r>
            <a:br>
              <a:rPr lang="en-US" sz="2200" dirty="0">
                <a:solidFill>
                  <a:schemeClr val="tx1">
                    <a:lumMod val="75000"/>
                    <a:lumOff val="25000"/>
                  </a:schemeClr>
                </a:solidFill>
                <a:latin typeface="Times New Roman" panose="02020603050405020304" pitchFamily="18" charset="0"/>
                <a:ea typeface="+mn-ea"/>
                <a:cs typeface="Times New Roman" panose="02020603050405020304" pitchFamily="18" charset="0"/>
              </a:rPr>
            </a:br>
            <a:r>
              <a:rPr lang="en-US" sz="2200" dirty="0">
                <a:solidFill>
                  <a:schemeClr val="tx1">
                    <a:lumMod val="75000"/>
                    <a:lumOff val="25000"/>
                  </a:schemeClr>
                </a:solidFill>
                <a:latin typeface="Times New Roman" panose="02020603050405020304" pitchFamily="18" charset="0"/>
                <a:ea typeface="+mn-ea"/>
                <a:cs typeface="Times New Roman" panose="02020603050405020304" pitchFamily="18" charset="0"/>
              </a:rPr>
              <a:t>There are exception handling and the type checking mechanism in Java. All these points make Java robust.</a:t>
            </a:r>
            <a:br>
              <a:rPr lang="en-US" sz="2200" dirty="0">
                <a:solidFill>
                  <a:schemeClr val="tx1">
                    <a:lumMod val="75000"/>
                    <a:lumOff val="25000"/>
                  </a:schemeClr>
                </a:solidFill>
                <a:latin typeface="Times New Roman" panose="02020603050405020304" pitchFamily="18" charset="0"/>
                <a:ea typeface="+mn-ea"/>
                <a:cs typeface="Times New Roman" panose="02020603050405020304" pitchFamily="18" charset="0"/>
              </a:rPr>
            </a:br>
            <a:br>
              <a:rPr lang="en-US" sz="2200" dirty="0">
                <a:solidFill>
                  <a:schemeClr val="tx1">
                    <a:lumMod val="75000"/>
                    <a:lumOff val="25000"/>
                  </a:schemeClr>
                </a:solidFill>
                <a:latin typeface="Times New Roman" panose="02020603050405020304" pitchFamily="18" charset="0"/>
                <a:ea typeface="+mn-ea"/>
                <a:cs typeface="Times New Roman" panose="02020603050405020304" pitchFamily="18" charset="0"/>
              </a:rPr>
            </a:br>
            <a:br>
              <a:rPr lang="en-US" sz="2700" dirty="0">
                <a:solidFill>
                  <a:schemeClr val="tx1">
                    <a:lumMod val="75000"/>
                    <a:lumOff val="25000"/>
                  </a:schemeClr>
                </a:solidFill>
                <a:latin typeface="Times New Roman" panose="02020603050405020304" pitchFamily="18" charset="0"/>
                <a:ea typeface="+mn-ea"/>
                <a:cs typeface="Times New Roman" panose="02020603050405020304" pitchFamily="18" charset="0"/>
              </a:rPr>
            </a:br>
            <a:endParaRPr lang="en-US" sz="2700" dirty="0">
              <a:solidFill>
                <a:schemeClr val="tx1">
                  <a:lumMod val="75000"/>
                  <a:lumOff val="25000"/>
                </a:schemeClr>
              </a:solidFill>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3205068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7086601" cy="5867400"/>
          </a:xfrm>
        </p:spPr>
        <p:txBody>
          <a:bodyPr>
            <a:noAutofit/>
          </a:bodyPr>
          <a:lstStyle/>
          <a:p>
            <a:r>
              <a:rPr lang="en-US" sz="2800" dirty="0"/>
              <a:t>Architecture-neutral:</a:t>
            </a:r>
            <a:br>
              <a:rPr lang="en-US" sz="1800" dirty="0"/>
            </a:br>
            <a:r>
              <a:rPr lang="en-US" sz="1800" dirty="0">
                <a:solidFill>
                  <a:schemeClr val="tx1"/>
                </a:solidFill>
                <a:latin typeface="Times New Roman" pitchFamily="18" charset="0"/>
                <a:cs typeface="Times New Roman" pitchFamily="18" charset="0"/>
              </a:rPr>
              <a:t>Java is architecture neutral because there are no implementation dependent features, for example, the size of primitive types is fixed.</a:t>
            </a:r>
            <a:br>
              <a:rPr lang="en-US" sz="1800" dirty="0">
                <a:solidFill>
                  <a:schemeClr val="tx1"/>
                </a:solidFill>
                <a:latin typeface="Times New Roman" pitchFamily="18" charset="0"/>
                <a:cs typeface="Times New Roman" pitchFamily="18" charset="0"/>
              </a:rPr>
            </a:br>
            <a:r>
              <a:rPr lang="en-US" sz="1800" dirty="0">
                <a:solidFill>
                  <a:schemeClr val="tx1"/>
                </a:solidFill>
                <a:latin typeface="Times New Roman" pitchFamily="18" charset="0"/>
                <a:cs typeface="Times New Roman" pitchFamily="18" charset="0"/>
              </a:rPr>
              <a:t>In C programming, </a:t>
            </a:r>
            <a:r>
              <a:rPr lang="en-US" sz="1800" dirty="0" err="1">
                <a:solidFill>
                  <a:schemeClr val="tx1"/>
                </a:solidFill>
                <a:latin typeface="Times New Roman" pitchFamily="18" charset="0"/>
                <a:cs typeface="Times New Roman" pitchFamily="18" charset="0"/>
              </a:rPr>
              <a:t>int</a:t>
            </a:r>
            <a:r>
              <a:rPr lang="en-US" sz="1800" dirty="0">
                <a:solidFill>
                  <a:schemeClr val="tx1"/>
                </a:solidFill>
                <a:latin typeface="Times New Roman" pitchFamily="18" charset="0"/>
                <a:cs typeface="Times New Roman" pitchFamily="18" charset="0"/>
              </a:rPr>
              <a:t> data type occupies 2 bytes of memory for 32-bit architecture and 4 bytes of memory for 64-bit architecture. However, it occupies 4 bytes of memory for both 32 and 64-bit architectures in Java.</a:t>
            </a:r>
            <a:br>
              <a:rPr lang="en-US" sz="1800" dirty="0">
                <a:solidFill>
                  <a:schemeClr val="tx1"/>
                </a:solidFill>
                <a:latin typeface="Times New Roman" pitchFamily="18" charset="0"/>
                <a:cs typeface="Times New Roman" pitchFamily="18" charset="0"/>
              </a:rPr>
            </a:br>
            <a:br>
              <a:rPr lang="en-US" sz="1800" dirty="0">
                <a:solidFill>
                  <a:schemeClr val="tx1"/>
                </a:solidFill>
                <a:latin typeface="Times New Roman" pitchFamily="18" charset="0"/>
                <a:cs typeface="Times New Roman" pitchFamily="18" charset="0"/>
              </a:rPr>
            </a:br>
            <a:r>
              <a:rPr lang="en-US" sz="2800" dirty="0"/>
              <a:t>Portable:</a:t>
            </a:r>
            <a:br>
              <a:rPr lang="en-US" sz="1800" dirty="0"/>
            </a:br>
            <a:r>
              <a:rPr lang="en-US" sz="1800" dirty="0">
                <a:solidFill>
                  <a:schemeClr val="tx1"/>
                </a:solidFill>
                <a:latin typeface="Times New Roman" pitchFamily="18" charset="0"/>
                <a:cs typeface="Times New Roman" pitchFamily="18" charset="0"/>
              </a:rPr>
              <a:t>Java is portable because it facilitates you to carry the Java </a:t>
            </a:r>
            <a:r>
              <a:rPr lang="en-US" sz="1800" dirty="0" err="1">
                <a:solidFill>
                  <a:schemeClr val="tx1"/>
                </a:solidFill>
                <a:latin typeface="Times New Roman" pitchFamily="18" charset="0"/>
                <a:cs typeface="Times New Roman" pitchFamily="18" charset="0"/>
              </a:rPr>
              <a:t>bytecode</a:t>
            </a:r>
            <a:r>
              <a:rPr lang="en-US" sz="1800" dirty="0">
                <a:solidFill>
                  <a:schemeClr val="tx1"/>
                </a:solidFill>
                <a:latin typeface="Times New Roman" pitchFamily="18" charset="0"/>
                <a:cs typeface="Times New Roman" pitchFamily="18" charset="0"/>
              </a:rPr>
              <a:t> to any platform. It doesn't require any implementation.</a:t>
            </a:r>
            <a:br>
              <a:rPr lang="en-US" sz="1800" dirty="0">
                <a:solidFill>
                  <a:schemeClr val="tx1"/>
                </a:solidFill>
                <a:latin typeface="Times New Roman" pitchFamily="18" charset="0"/>
                <a:cs typeface="Times New Roman" pitchFamily="18" charset="0"/>
              </a:rPr>
            </a:br>
            <a:br>
              <a:rPr lang="en-US" sz="1800" dirty="0">
                <a:solidFill>
                  <a:schemeClr val="tx1"/>
                </a:solidFill>
                <a:latin typeface="Times New Roman" pitchFamily="18" charset="0"/>
                <a:cs typeface="Times New Roman" pitchFamily="18" charset="0"/>
              </a:rPr>
            </a:br>
            <a:r>
              <a:rPr lang="en-US" sz="2800" dirty="0"/>
              <a:t>Multi-threaded:</a:t>
            </a:r>
            <a:br>
              <a:rPr lang="en-US" sz="1800" dirty="0"/>
            </a:br>
            <a:r>
              <a:rPr lang="en-US" sz="1800" dirty="0">
                <a:solidFill>
                  <a:schemeClr val="tx1"/>
                </a:solidFill>
                <a:latin typeface="Times New Roman" pitchFamily="18" charset="0"/>
                <a:cs typeface="Times New Roman" pitchFamily="18" charset="0"/>
              </a:rPr>
              <a:t>A thread is like a separate program, executing concurrently. We can write Java programs that deal with many tasks at once by defining multiple threads. The main advantage of multi-threading is that it doesn't occupy memory for each thread. It shares a common memory area. Threads are important for multi-media, Web applications, etc.</a:t>
            </a:r>
            <a:br>
              <a:rPr lang="en-US" sz="1800" dirty="0">
                <a:solidFill>
                  <a:schemeClr val="tx1"/>
                </a:solidFill>
                <a:latin typeface="Times New Roman" pitchFamily="18" charset="0"/>
                <a:cs typeface="Times New Roman" pitchFamily="18" charset="0"/>
              </a:rPr>
            </a:br>
            <a:br>
              <a:rPr lang="en-US" sz="1800" dirty="0">
                <a:solidFill>
                  <a:schemeClr val="tx1"/>
                </a:solidFill>
                <a:latin typeface="Times New Roman" pitchFamily="18" charset="0"/>
                <a:cs typeface="Times New Roman" pitchFamily="18" charset="0"/>
              </a:rPr>
            </a:br>
            <a:br>
              <a:rPr lang="en-US" sz="1800" dirty="0">
                <a:solidFill>
                  <a:schemeClr val="tx1"/>
                </a:solidFill>
                <a:latin typeface="Times New Roman" pitchFamily="18" charset="0"/>
                <a:cs typeface="Times New Roman" pitchFamily="18" charset="0"/>
              </a:rPr>
            </a:br>
            <a:endParaRPr lang="en-US" sz="18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40745881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598" y="500042"/>
            <a:ext cx="7105673" cy="5541321"/>
          </a:xfrm>
        </p:spPr>
        <p:txBody>
          <a:bodyPr/>
          <a:lstStyle/>
          <a:p>
            <a:r>
              <a:rPr lang="en-US" b="1" dirty="0"/>
              <a:t>Interpreted:</a:t>
            </a:r>
            <a:r>
              <a:rPr lang="en-US" dirty="0"/>
              <a:t> Java uses the Just-in-time (JIT) interpreter along with the compiler for the program execution.</a:t>
            </a:r>
          </a:p>
          <a:p>
            <a:endParaRPr lang="en-US" dirty="0"/>
          </a:p>
          <a:p>
            <a:r>
              <a:rPr lang="en-US" b="1" dirty="0"/>
              <a:t>Dynamic:</a:t>
            </a:r>
            <a:r>
              <a:rPr lang="en-US" dirty="0"/>
              <a:t> Java is a dynamic language. It supports dynamic loading of classes. It means classes are loaded on demand. It also supports functions from its native languages, i.e., C and C++.</a:t>
            </a:r>
          </a:p>
          <a:p>
            <a:endParaRPr lang="en-US" dirty="0"/>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The Java Development Kit</a:t>
            </a:r>
          </a:p>
        </p:txBody>
      </p:sp>
      <p:sp>
        <p:nvSpPr>
          <p:cNvPr id="3" name="Content Placeholder 2"/>
          <p:cNvSpPr>
            <a:spLocks noGrp="1"/>
          </p:cNvSpPr>
          <p:nvPr>
            <p:ph idx="1"/>
          </p:nvPr>
        </p:nvSpPr>
        <p:spPr>
          <a:xfrm>
            <a:off x="457200" y="1066800"/>
            <a:ext cx="8229600" cy="5334000"/>
          </a:xfrm>
        </p:spPr>
        <p:txBody>
          <a:bodyPr/>
          <a:lstStyle/>
          <a:p>
            <a:pPr algn="just"/>
            <a:r>
              <a:rPr lang="en-US" sz="2400" dirty="0">
                <a:latin typeface="Times New Roman" panose="02020603050405020304" pitchFamily="18" charset="0"/>
                <a:cs typeface="Times New Roman" panose="02020603050405020304" pitchFamily="18" charset="0"/>
              </a:rPr>
              <a:t>Before you can compile and run java programs, the Java Development Kit must be installed on the computer.</a:t>
            </a:r>
          </a:p>
          <a:p>
            <a:pPr algn="just"/>
            <a:r>
              <a:rPr lang="en-US" sz="2400" dirty="0">
                <a:latin typeface="Times New Roman" panose="02020603050405020304" pitchFamily="18" charset="0"/>
                <a:cs typeface="Times New Roman" panose="02020603050405020304" pitchFamily="18" charset="0"/>
              </a:rPr>
              <a:t>The JDK supplies two primary programs.</a:t>
            </a:r>
          </a:p>
          <a:p>
            <a:pPr algn="just"/>
            <a:r>
              <a:rPr lang="en-US" sz="2400" dirty="0">
                <a:latin typeface="Times New Roman" panose="02020603050405020304" pitchFamily="18" charset="0"/>
                <a:cs typeface="Times New Roman" panose="02020603050405020304" pitchFamily="18" charset="0"/>
              </a:rPr>
              <a:t>The first is </a:t>
            </a:r>
            <a:r>
              <a:rPr lang="en-US" sz="2400" b="1" dirty="0">
                <a:latin typeface="Times New Roman" panose="02020603050405020304" pitchFamily="18" charset="0"/>
                <a:cs typeface="Times New Roman" panose="02020603050405020304" pitchFamily="18" charset="0"/>
              </a:rPr>
              <a:t>javac</a:t>
            </a:r>
            <a:r>
              <a:rPr lang="en-US" sz="2400" dirty="0">
                <a:latin typeface="Times New Roman" panose="02020603050405020304" pitchFamily="18" charset="0"/>
                <a:cs typeface="Times New Roman" panose="02020603050405020304" pitchFamily="18" charset="0"/>
              </a:rPr>
              <a:t>,which is the Java compiler. It  converts your source code into bytecode.</a:t>
            </a:r>
          </a:p>
          <a:p>
            <a:pPr algn="just"/>
            <a:r>
              <a:rPr lang="en-US" sz="2400" dirty="0">
                <a:latin typeface="Times New Roman" panose="02020603050405020304" pitchFamily="18" charset="0"/>
                <a:cs typeface="Times New Roman" panose="02020603050405020304" pitchFamily="18" charset="0"/>
              </a:rPr>
              <a:t>The second is </a:t>
            </a:r>
            <a:r>
              <a:rPr lang="en-US" sz="2400" b="1" dirty="0">
                <a:latin typeface="Times New Roman" panose="02020603050405020304" pitchFamily="18" charset="0"/>
                <a:cs typeface="Times New Roman" panose="02020603050405020304" pitchFamily="18" charset="0"/>
              </a:rPr>
              <a:t>java, </a:t>
            </a:r>
            <a:r>
              <a:rPr lang="en-US" sz="2400" dirty="0">
                <a:latin typeface="Times New Roman" panose="02020603050405020304" pitchFamily="18" charset="0"/>
                <a:cs typeface="Times New Roman" panose="02020603050405020304" pitchFamily="18" charset="0"/>
              </a:rPr>
              <a:t>this is the program you will use to run a java program.</a:t>
            </a:r>
            <a:endParaRPr lang="en-US" sz="2400" b="1" dirty="0">
              <a:latin typeface="Times New Roman" panose="02020603050405020304" pitchFamily="18" charset="0"/>
              <a:cs typeface="Times New Roman" panose="02020603050405020304" pitchFamily="18" charset="0"/>
            </a:endParaRP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a:t>A First Simple Program</a:t>
            </a:r>
          </a:p>
        </p:txBody>
      </p:sp>
      <p:sp>
        <p:nvSpPr>
          <p:cNvPr id="3" name="Content Placeholder 2"/>
          <p:cNvSpPr>
            <a:spLocks noGrp="1"/>
          </p:cNvSpPr>
          <p:nvPr>
            <p:ph idx="1"/>
          </p:nvPr>
        </p:nvSpPr>
        <p:spPr>
          <a:xfrm>
            <a:off x="457200" y="990600"/>
            <a:ext cx="8229600" cy="5486400"/>
          </a:xfrm>
        </p:spPr>
        <p:txBody>
          <a:bodyPr>
            <a:normAutofit fontScale="25000" lnSpcReduction="20000"/>
          </a:bodyPr>
          <a:lstStyle/>
          <a:p>
            <a:pPr algn="just"/>
            <a:r>
              <a:rPr lang="en-US" sz="9600" dirty="0">
                <a:latin typeface="Times New Roman" panose="02020603050405020304" pitchFamily="18" charset="0"/>
                <a:cs typeface="Times New Roman" panose="02020603050405020304" pitchFamily="18" charset="0"/>
              </a:rPr>
              <a:t>To create a simple java program, you need to create a </a:t>
            </a:r>
            <a:r>
              <a:rPr lang="en-US" sz="9600" b="1" dirty="0">
                <a:latin typeface="Times New Roman" panose="02020603050405020304" pitchFamily="18" charset="0"/>
                <a:cs typeface="Times New Roman" panose="02020603050405020304" pitchFamily="18" charset="0"/>
              </a:rPr>
              <a:t>class</a:t>
            </a:r>
            <a:r>
              <a:rPr lang="en-US" sz="9600" dirty="0">
                <a:latin typeface="Times New Roman" panose="02020603050405020304" pitchFamily="18" charset="0"/>
                <a:cs typeface="Times New Roman" panose="02020603050405020304" pitchFamily="18" charset="0"/>
              </a:rPr>
              <a:t> that contains </a:t>
            </a:r>
            <a:r>
              <a:rPr lang="en-US" sz="9600" b="1" dirty="0">
                <a:latin typeface="Times New Roman" panose="02020603050405020304" pitchFamily="18" charset="0"/>
                <a:cs typeface="Times New Roman" panose="02020603050405020304" pitchFamily="18" charset="0"/>
              </a:rPr>
              <a:t>main method</a:t>
            </a:r>
            <a:r>
              <a:rPr lang="en-US" sz="9600" dirty="0">
                <a:latin typeface="Times New Roman" panose="02020603050405020304" pitchFamily="18" charset="0"/>
                <a:cs typeface="Times New Roman" panose="02020603050405020304" pitchFamily="18" charset="0"/>
              </a:rPr>
              <a:t>.</a:t>
            </a:r>
          </a:p>
          <a:p>
            <a:pPr algn="just">
              <a:buNone/>
            </a:pPr>
            <a:r>
              <a:rPr lang="en-US" sz="9600" dirty="0">
                <a:latin typeface="Times New Roman" panose="02020603050405020304" pitchFamily="18" charset="0"/>
                <a:cs typeface="Times New Roman" panose="02020603050405020304" pitchFamily="18" charset="0"/>
              </a:rPr>
              <a:t>Ex1:</a:t>
            </a:r>
          </a:p>
          <a:p>
            <a:pPr algn="just">
              <a:buNone/>
            </a:pPr>
            <a:r>
              <a:rPr lang="en-US" sz="9600" dirty="0">
                <a:latin typeface="Times New Roman" panose="02020603050405020304" pitchFamily="18" charset="0"/>
                <a:cs typeface="Times New Roman" panose="02020603050405020304" pitchFamily="18" charset="0"/>
              </a:rPr>
              <a:t>class Simple</a:t>
            </a:r>
          </a:p>
          <a:p>
            <a:pPr algn="just">
              <a:buNone/>
            </a:pPr>
            <a:r>
              <a:rPr lang="en-US" sz="9600" dirty="0">
                <a:latin typeface="Times New Roman" panose="02020603050405020304" pitchFamily="18" charset="0"/>
                <a:cs typeface="Times New Roman" panose="02020603050405020304" pitchFamily="18" charset="0"/>
              </a:rPr>
              <a:t>                {  </a:t>
            </a:r>
          </a:p>
          <a:p>
            <a:pPr algn="just">
              <a:buNone/>
            </a:pPr>
            <a:r>
              <a:rPr lang="en-US" sz="9600" dirty="0">
                <a:latin typeface="Times New Roman" panose="02020603050405020304" pitchFamily="18" charset="0"/>
                <a:cs typeface="Times New Roman" panose="02020603050405020304" pitchFamily="18" charset="0"/>
              </a:rPr>
              <a:t>                          public static void main(String args[])</a:t>
            </a:r>
          </a:p>
          <a:p>
            <a:pPr algn="just">
              <a:buNone/>
            </a:pPr>
            <a:r>
              <a:rPr lang="en-US" sz="9600" dirty="0">
                <a:latin typeface="Times New Roman" panose="02020603050405020304" pitchFamily="18" charset="0"/>
                <a:cs typeface="Times New Roman" panose="02020603050405020304" pitchFamily="18" charset="0"/>
              </a:rPr>
              <a:t>                               {  </a:t>
            </a:r>
          </a:p>
          <a:p>
            <a:pPr algn="just">
              <a:buNone/>
            </a:pPr>
            <a:r>
              <a:rPr lang="en-US" sz="9600" dirty="0">
                <a:latin typeface="Times New Roman" panose="02020603050405020304" pitchFamily="18" charset="0"/>
                <a:cs typeface="Times New Roman" panose="02020603050405020304" pitchFamily="18" charset="0"/>
              </a:rPr>
              <a:t>                                       System.out.println("Hello Java");  </a:t>
            </a:r>
          </a:p>
          <a:p>
            <a:pPr algn="just">
              <a:buNone/>
            </a:pPr>
            <a:r>
              <a:rPr lang="en-US" sz="9600" dirty="0">
                <a:latin typeface="Times New Roman" panose="02020603050405020304" pitchFamily="18" charset="0"/>
                <a:cs typeface="Times New Roman" panose="02020603050405020304" pitchFamily="18" charset="0"/>
              </a:rPr>
              <a:t>                              }  </a:t>
            </a:r>
          </a:p>
          <a:p>
            <a:pPr algn="just">
              <a:buNone/>
            </a:pPr>
            <a:r>
              <a:rPr lang="en-US" sz="9600" dirty="0">
                <a:latin typeface="Times New Roman" panose="02020603050405020304" pitchFamily="18" charset="0"/>
                <a:cs typeface="Times New Roman" panose="02020603050405020304" pitchFamily="18" charset="0"/>
              </a:rPr>
              <a:t>                 }  </a:t>
            </a:r>
          </a:p>
          <a:p>
            <a:pPr algn="just">
              <a:buNone/>
            </a:pPr>
            <a:r>
              <a:rPr lang="en-US" sz="9600" dirty="0">
                <a:latin typeface="Times New Roman" panose="02020603050405020304" pitchFamily="18" charset="0"/>
                <a:cs typeface="Times New Roman" panose="02020603050405020304" pitchFamily="18" charset="0"/>
              </a:rPr>
              <a:t>                             save this file as </a:t>
            </a:r>
            <a:r>
              <a:rPr lang="en-US" sz="9600" b="1" dirty="0">
                <a:latin typeface="Times New Roman" panose="02020603050405020304" pitchFamily="18" charset="0"/>
                <a:cs typeface="Times New Roman" panose="02020603050405020304" pitchFamily="18" charset="0"/>
              </a:rPr>
              <a:t>Simple.java</a:t>
            </a:r>
          </a:p>
          <a:p>
            <a:pPr algn="just">
              <a:buNone/>
            </a:pPr>
            <a:r>
              <a:rPr lang="en-US" sz="9600" dirty="0">
                <a:latin typeface="Times New Roman" panose="02020603050405020304" pitchFamily="18" charset="0"/>
                <a:cs typeface="Times New Roman" panose="02020603050405020304" pitchFamily="18" charset="0"/>
              </a:rPr>
              <a:t>                            To compile:</a:t>
            </a:r>
            <a:r>
              <a:rPr lang="en-US" sz="9600" b="1" dirty="0">
                <a:latin typeface="Times New Roman" panose="02020603050405020304" pitchFamily="18" charset="0"/>
                <a:cs typeface="Times New Roman" panose="02020603050405020304" pitchFamily="18" charset="0"/>
              </a:rPr>
              <a:t>javac Simple.java</a:t>
            </a:r>
          </a:p>
          <a:p>
            <a:pPr algn="just">
              <a:buNone/>
            </a:pPr>
            <a:r>
              <a:rPr lang="en-US" sz="9600" dirty="0">
                <a:latin typeface="Times New Roman" panose="02020603050405020304" pitchFamily="18" charset="0"/>
                <a:cs typeface="Times New Roman" panose="02020603050405020304" pitchFamily="18" charset="0"/>
              </a:rPr>
              <a:t>                              To execute: </a:t>
            </a:r>
            <a:r>
              <a:rPr lang="en-US" sz="9600" b="1" dirty="0">
                <a:latin typeface="Times New Roman" panose="02020603050405020304" pitchFamily="18" charset="0"/>
                <a:cs typeface="Times New Roman" panose="02020603050405020304" pitchFamily="18" charset="0"/>
              </a:rPr>
              <a:t>java Simple</a:t>
            </a:r>
          </a:p>
          <a:p>
            <a:pPr algn="just">
              <a:buNone/>
            </a:pPr>
            <a:r>
              <a:rPr lang="en-US" sz="9600" dirty="0">
                <a:latin typeface="Times New Roman" panose="02020603050405020304" pitchFamily="18" charset="0"/>
                <a:cs typeface="Times New Roman" panose="02020603050405020304" pitchFamily="18" charset="0"/>
              </a:rPr>
              <a:t>               </a:t>
            </a:r>
            <a:endParaRPr lang="en-US" sz="9600" b="1" dirty="0">
              <a:latin typeface="Times New Roman" panose="02020603050405020304" pitchFamily="18" charset="0"/>
              <a:cs typeface="Times New Roman" panose="02020603050405020304" pitchFamily="18" charset="0"/>
            </a:endParaRPr>
          </a:p>
          <a:p>
            <a:pPr>
              <a:buNone/>
            </a:pPr>
            <a:r>
              <a:rPr lang="en-US" sz="2800" dirty="0"/>
              <a: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err="1"/>
              <a:t>Contd</a:t>
            </a:r>
            <a:r>
              <a:rPr lang="en-US" dirty="0"/>
              <a:t>….</a:t>
            </a:r>
          </a:p>
        </p:txBody>
      </p:sp>
      <p:sp>
        <p:nvSpPr>
          <p:cNvPr id="3" name="Content Placeholder 2"/>
          <p:cNvSpPr>
            <a:spLocks noGrp="1"/>
          </p:cNvSpPr>
          <p:nvPr>
            <p:ph idx="1"/>
          </p:nvPr>
        </p:nvSpPr>
        <p:spPr>
          <a:xfrm>
            <a:off x="457200" y="1066800"/>
            <a:ext cx="8229600" cy="5410200"/>
          </a:xfrm>
        </p:spPr>
        <p:txBody>
          <a:bodyPr>
            <a:normAutofit/>
          </a:bodyPr>
          <a:lstStyle/>
          <a:p>
            <a:pPr algn="just"/>
            <a:r>
              <a:rPr lang="en-US" sz="2400" b="1" dirty="0">
                <a:latin typeface="Times New Roman" panose="02020603050405020304" pitchFamily="18" charset="0"/>
                <a:cs typeface="Times New Roman" panose="02020603050405020304" pitchFamily="18" charset="0"/>
              </a:rPr>
              <a:t>class</a:t>
            </a:r>
            <a:r>
              <a:rPr lang="en-US" sz="2400" dirty="0">
                <a:latin typeface="Times New Roman" panose="02020603050405020304" pitchFamily="18" charset="0"/>
                <a:cs typeface="Times New Roman" panose="02020603050405020304" pitchFamily="18" charset="0"/>
              </a:rPr>
              <a:t> keyword is used to declare a class in java.</a:t>
            </a:r>
          </a:p>
          <a:p>
            <a:pPr algn="just"/>
            <a:r>
              <a:rPr lang="en-US" sz="2400" b="1" dirty="0">
                <a:latin typeface="Times New Roman" panose="02020603050405020304" pitchFamily="18" charset="0"/>
                <a:cs typeface="Times New Roman" panose="02020603050405020304" pitchFamily="18" charset="0"/>
              </a:rPr>
              <a:t>public</a:t>
            </a:r>
            <a:r>
              <a:rPr lang="en-US" sz="2400" dirty="0">
                <a:latin typeface="Times New Roman" panose="02020603050405020304" pitchFamily="18" charset="0"/>
                <a:cs typeface="Times New Roman" panose="02020603050405020304" pitchFamily="18" charset="0"/>
              </a:rPr>
              <a:t> keyword is an access modifier which represents visibility, it means it is visible to all.</a:t>
            </a:r>
          </a:p>
          <a:p>
            <a:pPr algn="just"/>
            <a:r>
              <a:rPr lang="en-US" sz="2400" b="1" dirty="0">
                <a:latin typeface="Times New Roman" panose="02020603050405020304" pitchFamily="18" charset="0"/>
                <a:cs typeface="Times New Roman" panose="02020603050405020304" pitchFamily="18" charset="0"/>
              </a:rPr>
              <a:t>static</a:t>
            </a:r>
            <a:r>
              <a:rPr lang="en-US" sz="2400" dirty="0">
                <a:latin typeface="Times New Roman" panose="02020603050405020304" pitchFamily="18" charset="0"/>
                <a:cs typeface="Times New Roman" panose="02020603050405020304" pitchFamily="18" charset="0"/>
              </a:rPr>
              <a:t> is a keyword, if we declare any method as static, it is known as static method. The core advantage of static method is that there is no need to create object to invoke the static method. So it saves memory.</a:t>
            </a:r>
          </a:p>
          <a:p>
            <a:pPr algn="just"/>
            <a:r>
              <a:rPr lang="en-US" sz="2400" b="1" dirty="0">
                <a:latin typeface="Times New Roman" panose="02020603050405020304" pitchFamily="18" charset="0"/>
                <a:cs typeface="Times New Roman" panose="02020603050405020304" pitchFamily="18" charset="0"/>
              </a:rPr>
              <a:t>void</a:t>
            </a:r>
            <a:r>
              <a:rPr lang="en-US" sz="2400" dirty="0">
                <a:latin typeface="Times New Roman" panose="02020603050405020304" pitchFamily="18" charset="0"/>
                <a:cs typeface="Times New Roman" panose="02020603050405020304" pitchFamily="18" charset="0"/>
              </a:rPr>
              <a:t> is the return type of the method, it means it doesn't return any value.</a:t>
            </a:r>
          </a:p>
          <a:p>
            <a:pPr algn="just"/>
            <a:r>
              <a:rPr lang="en-US" sz="2400" b="1" dirty="0">
                <a:latin typeface="Times New Roman" panose="02020603050405020304" pitchFamily="18" charset="0"/>
                <a:cs typeface="Times New Roman" panose="02020603050405020304" pitchFamily="18" charset="0"/>
              </a:rPr>
              <a:t>main</a:t>
            </a:r>
            <a:r>
              <a:rPr lang="en-US" sz="2400" dirty="0">
                <a:latin typeface="Times New Roman" panose="02020603050405020304" pitchFamily="18" charset="0"/>
                <a:cs typeface="Times New Roman" panose="02020603050405020304" pitchFamily="18" charset="0"/>
              </a:rPr>
              <a:t> represents startup of the program.</a:t>
            </a:r>
          </a:p>
          <a:p>
            <a:endParaRPr lang="en-US" sz="2800" dirty="0"/>
          </a:p>
          <a:p>
            <a:endParaRPr lang="en-US" sz="2800" dirty="0"/>
          </a:p>
          <a:p>
            <a:endParaRPr lang="en-US" sz="2800" b="1"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521FC-A567-A4F3-974A-90B0E5FDDBF0}"/>
              </a:ext>
            </a:extLst>
          </p:cNvPr>
          <p:cNvSpPr>
            <a:spLocks noGrp="1"/>
          </p:cNvSpPr>
          <p:nvPr>
            <p:ph type="title"/>
          </p:nvPr>
        </p:nvSpPr>
        <p:spPr/>
        <p:txBody>
          <a:bodyPr/>
          <a:lstStyle/>
          <a:p>
            <a:r>
              <a:rPr lang="en-IN" dirty="0"/>
              <a:t>The History of Java</a:t>
            </a:r>
          </a:p>
        </p:txBody>
      </p:sp>
      <p:sp>
        <p:nvSpPr>
          <p:cNvPr id="3" name="Content Placeholder 2">
            <a:extLst>
              <a:ext uri="{FF2B5EF4-FFF2-40B4-BE49-F238E27FC236}">
                <a16:creationId xmlns:a16="http://schemas.microsoft.com/office/drawing/2014/main" id="{B76CF5AC-4038-BE48-6CC9-C7720D564005}"/>
              </a:ext>
            </a:extLst>
          </p:cNvPr>
          <p:cNvSpPr>
            <a:spLocks noGrp="1"/>
          </p:cNvSpPr>
          <p:nvPr>
            <p:ph idx="1"/>
          </p:nvPr>
        </p:nvSpPr>
        <p:spPr/>
        <p:txBody>
          <a:bodyPr/>
          <a:lstStyle/>
          <a:p>
            <a:r>
              <a:rPr lang="en-US" b="1" dirty="0"/>
              <a:t>1991:</a:t>
            </a:r>
            <a:r>
              <a:rPr lang="en-US" dirty="0"/>
              <a:t> Project Oak started by James Gosling.</a:t>
            </a:r>
          </a:p>
          <a:p>
            <a:r>
              <a:rPr lang="en-US" b="1" dirty="0"/>
              <a:t>1995:</a:t>
            </a:r>
            <a:r>
              <a:rPr lang="en-US" dirty="0"/>
              <a:t> Officially renamed and released as </a:t>
            </a:r>
            <a:r>
              <a:rPr lang="en-US" b="1" dirty="0"/>
              <a:t>Java</a:t>
            </a:r>
            <a:r>
              <a:rPr lang="en-US" dirty="0"/>
              <a:t>.</a:t>
            </a:r>
          </a:p>
          <a:p>
            <a:r>
              <a:rPr lang="en-US" b="1" dirty="0"/>
              <a:t>1998:</a:t>
            </a:r>
            <a:r>
              <a:rPr lang="en-US" dirty="0"/>
              <a:t> Java 2 (J2SE 1.2) released with major improvements.</a:t>
            </a:r>
          </a:p>
          <a:p>
            <a:r>
              <a:rPr lang="en-US" b="1" dirty="0"/>
              <a:t>2010:</a:t>
            </a:r>
            <a:r>
              <a:rPr lang="en-US" dirty="0"/>
              <a:t> Oracle acquired Sun Microsystems.</a:t>
            </a:r>
          </a:p>
          <a:p>
            <a:r>
              <a:rPr lang="en-US" b="1" dirty="0"/>
              <a:t>Today:</a:t>
            </a:r>
            <a:r>
              <a:rPr lang="en-US" dirty="0"/>
              <a:t> Java powers </a:t>
            </a:r>
            <a:r>
              <a:rPr lang="en-US" b="1" dirty="0"/>
              <a:t>Android apps, enterprise systems, banking software, cloud platforms, and millions of applications worldwide.</a:t>
            </a:r>
          </a:p>
          <a:p>
            <a:endParaRPr lang="en-IN" dirty="0"/>
          </a:p>
        </p:txBody>
      </p:sp>
    </p:spTree>
    <p:extLst>
      <p:ext uri="{BB962C8B-B14F-4D97-AF65-F5344CB8AC3E}">
        <p14:creationId xmlns:p14="http://schemas.microsoft.com/office/powerpoint/2010/main" val="10101917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673760"/>
            <a:ext cx="6347713" cy="1099055"/>
          </a:xfrm>
        </p:spPr>
        <p:txBody>
          <a:bodyPr>
            <a:normAutofit fontScale="90000"/>
          </a:bodyPr>
          <a:lstStyle/>
          <a:p>
            <a:r>
              <a:rPr lang="en-IN" dirty="0"/>
              <a:t>Object-Oriented Programming (OOP) in Java</a:t>
            </a:r>
            <a:endParaRPr lang="en-US" dirty="0"/>
          </a:p>
        </p:txBody>
      </p:sp>
      <p:sp>
        <p:nvSpPr>
          <p:cNvPr id="3" name="Content Placeholder 2"/>
          <p:cNvSpPr>
            <a:spLocks noGrp="1"/>
          </p:cNvSpPr>
          <p:nvPr>
            <p:ph idx="1"/>
          </p:nvPr>
        </p:nvSpPr>
        <p:spPr>
          <a:xfrm>
            <a:off x="285720" y="1988840"/>
            <a:ext cx="7462863" cy="4195399"/>
          </a:xfrm>
        </p:spPr>
        <p:txBody>
          <a:bodyPr>
            <a:normAutofit/>
          </a:bodyPr>
          <a:lstStyle/>
          <a:p>
            <a:r>
              <a:rPr lang="en-US" sz="2000" dirty="0"/>
              <a:t>OOP helps structure programs using </a:t>
            </a:r>
            <a:r>
              <a:rPr lang="en-US" sz="2000" b="1" dirty="0"/>
              <a:t>objects and classes</a:t>
            </a:r>
            <a:r>
              <a:rPr lang="en-US" sz="2000" dirty="0"/>
              <a:t>, allowing code to be organized, reusable, and easier to maintain.</a:t>
            </a:r>
          </a:p>
          <a:p>
            <a:r>
              <a:rPr lang="en-US" sz="2000" dirty="0"/>
              <a:t>Java follows four main OOP principles, </a:t>
            </a:r>
            <a:r>
              <a:rPr lang="en-US" sz="2000" b="1" dirty="0"/>
              <a:t>namely: Encapsulation, Inheritance, Polymorphism, and Abstraction</a:t>
            </a:r>
            <a:r>
              <a:rPr lang="en-US" sz="2000" dirty="0"/>
              <a:t>, which together define how objects behave and interact in a well-designed program.</a:t>
            </a:r>
          </a:p>
          <a:p>
            <a:r>
              <a:rPr lang="en-US" sz="2000" dirty="0"/>
              <a:t>OOP in Java also promotes </a:t>
            </a:r>
            <a:r>
              <a:rPr lang="en-US" sz="2000" b="1" dirty="0"/>
              <a:t>modularity</a:t>
            </a:r>
            <a:r>
              <a:rPr lang="en-US" sz="2000" dirty="0"/>
              <a:t>, allowing large applications to be developed, tested, and debugged in smaller, manageable components.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3C1A5-0F8F-FA65-6D3D-3F2684D6C2E8}"/>
              </a:ext>
            </a:extLst>
          </p:cNvPr>
          <p:cNvSpPr>
            <a:spLocks noGrp="1"/>
          </p:cNvSpPr>
          <p:nvPr>
            <p:ph type="title"/>
          </p:nvPr>
        </p:nvSpPr>
        <p:spPr>
          <a:xfrm>
            <a:off x="609599" y="609600"/>
            <a:ext cx="6626697" cy="659160"/>
          </a:xfrm>
        </p:spPr>
        <p:txBody>
          <a:bodyPr/>
          <a:lstStyle/>
          <a:p>
            <a:r>
              <a:rPr lang="en-US" dirty="0"/>
              <a:t>1. Encapsulation </a:t>
            </a:r>
            <a:endParaRPr lang="en-IN" dirty="0"/>
          </a:p>
        </p:txBody>
      </p:sp>
      <p:sp>
        <p:nvSpPr>
          <p:cNvPr id="3" name="Content Placeholder 2">
            <a:extLst>
              <a:ext uri="{FF2B5EF4-FFF2-40B4-BE49-F238E27FC236}">
                <a16:creationId xmlns:a16="http://schemas.microsoft.com/office/drawing/2014/main" id="{441BEC9A-5D61-2980-E124-CD86FE6D665A}"/>
              </a:ext>
            </a:extLst>
          </p:cNvPr>
          <p:cNvSpPr>
            <a:spLocks noGrp="1"/>
          </p:cNvSpPr>
          <p:nvPr>
            <p:ph idx="1"/>
          </p:nvPr>
        </p:nvSpPr>
        <p:spPr>
          <a:xfrm>
            <a:off x="609598" y="1484784"/>
            <a:ext cx="6698706" cy="4968551"/>
          </a:xfrm>
        </p:spPr>
        <p:txBody>
          <a:bodyPr>
            <a:normAutofit fontScale="62500" lnSpcReduction="20000"/>
          </a:bodyPr>
          <a:lstStyle/>
          <a:p>
            <a:r>
              <a:rPr lang="en-US" sz="2900" dirty="0">
                <a:latin typeface="Times New Roman" pitchFamily="18" charset="0"/>
                <a:cs typeface="Times New Roman" pitchFamily="18" charset="0"/>
              </a:rPr>
              <a:t>Encapsulation is the mechanism that binds together code and the data it manipulates, and keeps both safe from outside interference and misuse.</a:t>
            </a:r>
          </a:p>
          <a:p>
            <a:r>
              <a:rPr lang="en-US" sz="2900" dirty="0">
                <a:latin typeface="Times New Roman" pitchFamily="18" charset="0"/>
                <a:cs typeface="Times New Roman" pitchFamily="18" charset="0"/>
              </a:rPr>
              <a:t>One way to think about encapsulation is as a protective wrapper that prevents the code and data from being arbitrarily accessed by other code defined outside the wrapper. </a:t>
            </a:r>
          </a:p>
          <a:p>
            <a:r>
              <a:rPr lang="en-US" sz="2900" dirty="0">
                <a:latin typeface="Times New Roman" pitchFamily="18" charset="0"/>
                <a:cs typeface="Times New Roman" pitchFamily="18" charset="0"/>
              </a:rPr>
              <a:t>Access to the code and data inside the wrapper is tightly controlled through a well-defined interface. </a:t>
            </a:r>
          </a:p>
          <a:p>
            <a:r>
              <a:rPr lang="en-US" sz="2900" dirty="0">
                <a:latin typeface="Times New Roman" pitchFamily="18" charset="0"/>
                <a:cs typeface="Times New Roman" pitchFamily="18" charset="0"/>
              </a:rPr>
              <a:t>Since the purpose of a class is to encapsulate complexity, there are mechanisms for hiding the complexity of the implementation inside the class. </a:t>
            </a:r>
          </a:p>
          <a:p>
            <a:r>
              <a:rPr lang="en-US" sz="2900" dirty="0">
                <a:latin typeface="Times New Roman" pitchFamily="18" charset="0"/>
                <a:cs typeface="Times New Roman" pitchFamily="18" charset="0"/>
              </a:rPr>
              <a:t>Each method or variable in a class may be marked private or public.</a:t>
            </a:r>
          </a:p>
          <a:p>
            <a:r>
              <a:rPr lang="en-US" sz="2900" dirty="0">
                <a:latin typeface="Times New Roman" pitchFamily="18" charset="0"/>
                <a:cs typeface="Times New Roman" pitchFamily="18" charset="0"/>
              </a:rPr>
              <a:t> The public interface of a class represents everything that external users of the class need to know, or may know. </a:t>
            </a:r>
          </a:p>
          <a:p>
            <a:r>
              <a:rPr lang="en-US" sz="2900" dirty="0">
                <a:latin typeface="Times New Roman" pitchFamily="18" charset="0"/>
                <a:cs typeface="Times New Roman" pitchFamily="18" charset="0"/>
              </a:rPr>
              <a:t>The private methods and data can only be accessed by code that is a member of the class. Therefore, any other code that is not a member of the class cannot access a private method or variable</a:t>
            </a:r>
          </a:p>
          <a:p>
            <a:endParaRPr lang="en-IN" dirty="0"/>
          </a:p>
        </p:txBody>
      </p:sp>
    </p:spTree>
    <p:extLst>
      <p:ext uri="{BB962C8B-B14F-4D97-AF65-F5344CB8AC3E}">
        <p14:creationId xmlns:p14="http://schemas.microsoft.com/office/powerpoint/2010/main" val="22451744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86904-C1FB-3B8D-9DB8-2D8F2049D352}"/>
              </a:ext>
            </a:extLst>
          </p:cNvPr>
          <p:cNvSpPr>
            <a:spLocks noGrp="1"/>
          </p:cNvSpPr>
          <p:nvPr>
            <p:ph type="title"/>
          </p:nvPr>
        </p:nvSpPr>
        <p:spPr>
          <a:xfrm>
            <a:off x="609599" y="609600"/>
            <a:ext cx="6050633" cy="803176"/>
          </a:xfrm>
        </p:spPr>
        <p:txBody>
          <a:bodyPr/>
          <a:lstStyle/>
          <a:p>
            <a:r>
              <a:rPr lang="en-US" dirty="0"/>
              <a:t>Example-1</a:t>
            </a:r>
            <a:endParaRPr lang="en-IN" dirty="0"/>
          </a:p>
        </p:txBody>
      </p:sp>
      <p:sp>
        <p:nvSpPr>
          <p:cNvPr id="3" name="Content Placeholder 2">
            <a:extLst>
              <a:ext uri="{FF2B5EF4-FFF2-40B4-BE49-F238E27FC236}">
                <a16:creationId xmlns:a16="http://schemas.microsoft.com/office/drawing/2014/main" id="{AED724CB-69E2-0D0C-D7CE-D8BD258EC223}"/>
              </a:ext>
            </a:extLst>
          </p:cNvPr>
          <p:cNvSpPr>
            <a:spLocks noGrp="1"/>
          </p:cNvSpPr>
          <p:nvPr>
            <p:ph idx="1"/>
          </p:nvPr>
        </p:nvSpPr>
        <p:spPr>
          <a:xfrm>
            <a:off x="609599" y="1412776"/>
            <a:ext cx="6347714" cy="4628587"/>
          </a:xfrm>
        </p:spPr>
        <p:txBody>
          <a:bodyPr/>
          <a:lstStyle/>
          <a:p>
            <a:pPr marL="0" indent="0">
              <a:buNone/>
            </a:pPr>
            <a:r>
              <a:rPr lang="en-US" dirty="0"/>
              <a:t>class Student {</a:t>
            </a:r>
          </a:p>
          <a:p>
            <a:pPr marL="0" indent="0">
              <a:buNone/>
            </a:pPr>
            <a:r>
              <a:rPr lang="en-US" dirty="0"/>
              <a:t>   	private int age;</a:t>
            </a:r>
          </a:p>
          <a:p>
            <a:pPr marL="0" indent="0">
              <a:buNone/>
            </a:pPr>
            <a:r>
              <a:rPr lang="en-US" dirty="0"/>
              <a:t>    	public void </a:t>
            </a:r>
            <a:r>
              <a:rPr lang="en-US" dirty="0" err="1"/>
              <a:t>setAge</a:t>
            </a:r>
            <a:r>
              <a:rPr lang="en-US" dirty="0"/>
              <a:t>(int a){</a:t>
            </a:r>
          </a:p>
          <a:p>
            <a:pPr marL="457200" lvl="1" indent="0">
              <a:buNone/>
            </a:pPr>
            <a:r>
              <a:rPr lang="en-US" dirty="0"/>
              <a:t> age = a;     }</a:t>
            </a:r>
          </a:p>
          <a:p>
            <a:pPr marL="0" indent="0">
              <a:buNone/>
            </a:pPr>
            <a:r>
              <a:rPr lang="en-US" dirty="0"/>
              <a:t>    public int </a:t>
            </a:r>
            <a:r>
              <a:rPr lang="en-US" dirty="0" err="1"/>
              <a:t>getAge</a:t>
            </a:r>
            <a:r>
              <a:rPr lang="en-US" dirty="0"/>
              <a:t>() { </a:t>
            </a:r>
          </a:p>
          <a:p>
            <a:pPr marL="0" indent="0">
              <a:buNone/>
            </a:pPr>
            <a:r>
              <a:rPr lang="en-US" dirty="0"/>
              <a:t>	return age; }</a:t>
            </a:r>
          </a:p>
          <a:p>
            <a:pPr marL="0" indent="0">
              <a:buNone/>
            </a:pPr>
            <a:r>
              <a:rPr lang="en-US" dirty="0"/>
              <a:t>	}</a:t>
            </a:r>
          </a:p>
          <a:p>
            <a:pPr marL="0" indent="0">
              <a:buNone/>
            </a:pPr>
            <a:r>
              <a:rPr lang="en-IN" b="1" dirty="0"/>
              <a:t>Explanation:</a:t>
            </a:r>
          </a:p>
          <a:p>
            <a:pPr marL="0" indent="0">
              <a:buNone/>
            </a:pPr>
            <a:r>
              <a:rPr lang="en-US" dirty="0"/>
              <a:t>The variable age is kept </a:t>
            </a:r>
            <a:r>
              <a:rPr lang="en-US" b="1" dirty="0"/>
              <a:t>private</a:t>
            </a:r>
            <a:r>
              <a:rPr lang="en-US" dirty="0"/>
              <a:t>, and access is given only through </a:t>
            </a:r>
            <a:r>
              <a:rPr lang="en-US" dirty="0" err="1"/>
              <a:t>setAge</a:t>
            </a:r>
            <a:r>
              <a:rPr lang="en-US" dirty="0"/>
              <a:t>() and </a:t>
            </a:r>
            <a:r>
              <a:rPr lang="en-US" dirty="0" err="1"/>
              <a:t>getAge</a:t>
            </a:r>
            <a:r>
              <a:rPr lang="en-US" dirty="0"/>
              <a:t>().</a:t>
            </a:r>
            <a:br>
              <a:rPr lang="en-US" dirty="0"/>
            </a:br>
            <a:r>
              <a:rPr lang="en-US" dirty="0"/>
              <a:t>This </a:t>
            </a:r>
            <a:r>
              <a:rPr lang="en-US" b="1" dirty="0"/>
              <a:t>protects the data</a:t>
            </a:r>
            <a:r>
              <a:rPr lang="en-US" dirty="0"/>
              <a:t> and ensures it can be changed only through controlled methods.</a:t>
            </a:r>
          </a:p>
          <a:p>
            <a:endParaRPr lang="en-IN" dirty="0"/>
          </a:p>
        </p:txBody>
      </p:sp>
    </p:spTree>
    <p:extLst>
      <p:ext uri="{BB962C8B-B14F-4D97-AF65-F5344CB8AC3E}">
        <p14:creationId xmlns:p14="http://schemas.microsoft.com/office/powerpoint/2010/main" val="8955781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84F1B-A9FA-78E9-5693-E675CD575E60}"/>
              </a:ext>
            </a:extLst>
          </p:cNvPr>
          <p:cNvSpPr>
            <a:spLocks noGrp="1"/>
          </p:cNvSpPr>
          <p:nvPr>
            <p:ph type="title"/>
          </p:nvPr>
        </p:nvSpPr>
        <p:spPr>
          <a:xfrm>
            <a:off x="609599" y="609600"/>
            <a:ext cx="6347713" cy="731168"/>
          </a:xfrm>
        </p:spPr>
        <p:txBody>
          <a:bodyPr/>
          <a:lstStyle/>
          <a:p>
            <a:r>
              <a:rPr lang="en-US" dirty="0"/>
              <a:t>2. Inheritance </a:t>
            </a:r>
            <a:endParaRPr lang="en-IN" dirty="0"/>
          </a:p>
        </p:txBody>
      </p:sp>
      <p:sp>
        <p:nvSpPr>
          <p:cNvPr id="3" name="Content Placeholder 2">
            <a:extLst>
              <a:ext uri="{FF2B5EF4-FFF2-40B4-BE49-F238E27FC236}">
                <a16:creationId xmlns:a16="http://schemas.microsoft.com/office/drawing/2014/main" id="{2C5E3BFC-F20B-A987-B80C-96D72F960FD5}"/>
              </a:ext>
            </a:extLst>
          </p:cNvPr>
          <p:cNvSpPr>
            <a:spLocks noGrp="1"/>
          </p:cNvSpPr>
          <p:nvPr>
            <p:ph idx="1"/>
          </p:nvPr>
        </p:nvSpPr>
        <p:spPr>
          <a:xfrm>
            <a:off x="609599" y="1556792"/>
            <a:ext cx="6347714" cy="4484571"/>
          </a:xfrm>
        </p:spPr>
        <p:txBody>
          <a:bodyPr>
            <a:normAutofit lnSpcReduction="10000"/>
          </a:bodyPr>
          <a:lstStyle/>
          <a:p>
            <a:pPr algn="just"/>
            <a:r>
              <a:rPr lang="en-US" dirty="0">
                <a:latin typeface="Times New Roman" pitchFamily="18" charset="0"/>
                <a:cs typeface="Times New Roman" pitchFamily="18" charset="0"/>
              </a:rPr>
              <a:t>Inheritance is the process by which one object acquires the properties of another object. </a:t>
            </a:r>
          </a:p>
          <a:p>
            <a:pPr algn="just"/>
            <a:r>
              <a:rPr lang="en-US" dirty="0">
                <a:latin typeface="Times New Roman" pitchFamily="18" charset="0"/>
                <a:cs typeface="Times New Roman" pitchFamily="18" charset="0"/>
              </a:rPr>
              <a:t>This is important because it supports the concept of hierarchical classification. </a:t>
            </a:r>
          </a:p>
          <a:p>
            <a:pPr algn="just"/>
            <a:r>
              <a:rPr lang="en-US" dirty="0">
                <a:latin typeface="Times New Roman" pitchFamily="18" charset="0"/>
                <a:cs typeface="Times New Roman" pitchFamily="18" charset="0"/>
              </a:rPr>
              <a:t>For example, a Golden Retriever is part of the classification dog, which in turn is part of the mammal class, which is under the larger class animal. </a:t>
            </a:r>
          </a:p>
          <a:p>
            <a:pPr algn="just"/>
            <a:r>
              <a:rPr lang="en-US" dirty="0">
                <a:latin typeface="Times New Roman" pitchFamily="18" charset="0"/>
                <a:cs typeface="Times New Roman" pitchFamily="18" charset="0"/>
              </a:rPr>
              <a:t>Without the use of hierarchies, each object would need to define all of its characteristics explicitly.</a:t>
            </a:r>
          </a:p>
          <a:p>
            <a:pPr algn="just"/>
            <a:r>
              <a:rPr lang="en-US" dirty="0">
                <a:latin typeface="Times New Roman" pitchFamily="18" charset="0"/>
                <a:cs typeface="Times New Roman" pitchFamily="18" charset="0"/>
              </a:rPr>
              <a:t> By use of inheritance, an object need only define those qualities that make it unique within its class. </a:t>
            </a:r>
          </a:p>
          <a:p>
            <a:pPr algn="just"/>
            <a:r>
              <a:rPr lang="en-US" dirty="0">
                <a:latin typeface="Times New Roman" pitchFamily="18" charset="0"/>
                <a:cs typeface="Times New Roman" pitchFamily="18" charset="0"/>
              </a:rPr>
              <a:t>It can inherit its general attributes from its parent. Thus, it is the inheritance mechanism that makes it possible for one object to be a specific instance of a more general case</a:t>
            </a:r>
          </a:p>
          <a:p>
            <a:endParaRPr lang="en-IN" dirty="0"/>
          </a:p>
        </p:txBody>
      </p:sp>
    </p:spTree>
    <p:extLst>
      <p:ext uri="{BB962C8B-B14F-4D97-AF65-F5344CB8AC3E}">
        <p14:creationId xmlns:p14="http://schemas.microsoft.com/office/powerpoint/2010/main" val="20967085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803176"/>
          </a:xfrm>
        </p:spPr>
        <p:txBody>
          <a:bodyPr/>
          <a:lstStyle/>
          <a:p>
            <a:r>
              <a:rPr lang="en-US" dirty="0"/>
              <a:t>Example-1</a:t>
            </a:r>
          </a:p>
        </p:txBody>
      </p:sp>
      <p:sp>
        <p:nvSpPr>
          <p:cNvPr id="3" name="Content Placeholder 2"/>
          <p:cNvSpPr>
            <a:spLocks noGrp="1"/>
          </p:cNvSpPr>
          <p:nvPr>
            <p:ph idx="1"/>
          </p:nvPr>
        </p:nvSpPr>
        <p:spPr>
          <a:xfrm>
            <a:off x="609599" y="1268760"/>
            <a:ext cx="6347712" cy="4824536"/>
          </a:xfrm>
        </p:spPr>
        <p:txBody>
          <a:bodyPr>
            <a:normAutofit/>
          </a:bodyPr>
          <a:lstStyle/>
          <a:p>
            <a:pPr marL="0" indent="0" algn="just">
              <a:buNone/>
            </a:pPr>
            <a:r>
              <a:rPr lang="en-US" dirty="0">
                <a:latin typeface="Times New Roman" pitchFamily="18" charset="0"/>
                <a:cs typeface="Times New Roman" pitchFamily="18" charset="0"/>
              </a:rPr>
              <a:t>class Animal {</a:t>
            </a:r>
          </a:p>
          <a:p>
            <a:pPr marL="0" indent="0" algn="just">
              <a:buNone/>
            </a:pPr>
            <a:r>
              <a:rPr lang="en-US" dirty="0">
                <a:latin typeface="Times New Roman" pitchFamily="18" charset="0"/>
                <a:cs typeface="Times New Roman" pitchFamily="18" charset="0"/>
              </a:rPr>
              <a:t>	void sound(){</a:t>
            </a:r>
          </a:p>
          <a:p>
            <a:pPr marL="0" indent="0" algn="just">
              <a:buNone/>
            </a:pP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System.out.println</a:t>
            </a:r>
            <a:r>
              <a:rPr lang="en-US" dirty="0">
                <a:latin typeface="Times New Roman" pitchFamily="18" charset="0"/>
                <a:cs typeface="Times New Roman" pitchFamily="18" charset="0"/>
              </a:rPr>
              <a:t>("Animal sound");  }</a:t>
            </a:r>
          </a:p>
          <a:p>
            <a:pPr marL="0" indent="0" algn="just">
              <a:buNone/>
            </a:pPr>
            <a:r>
              <a:rPr lang="en-US" dirty="0">
                <a:latin typeface="Times New Roman" pitchFamily="18" charset="0"/>
                <a:cs typeface="Times New Roman" pitchFamily="18" charset="0"/>
              </a:rPr>
              <a:t>			 }</a:t>
            </a:r>
          </a:p>
          <a:p>
            <a:pPr marL="0" indent="0" algn="just">
              <a:buNone/>
            </a:pPr>
            <a:r>
              <a:rPr lang="en-US" dirty="0">
                <a:latin typeface="Times New Roman" pitchFamily="18" charset="0"/>
                <a:cs typeface="Times New Roman" pitchFamily="18" charset="0"/>
              </a:rPr>
              <a:t>class Dog extends Animal{</a:t>
            </a:r>
          </a:p>
          <a:p>
            <a:pPr marL="0" indent="0" algn="just">
              <a:buNone/>
            </a:pPr>
            <a:r>
              <a:rPr lang="en-US" dirty="0">
                <a:latin typeface="Times New Roman" pitchFamily="18" charset="0"/>
                <a:cs typeface="Times New Roman" pitchFamily="18" charset="0"/>
              </a:rPr>
              <a:t>	 void sound() {</a:t>
            </a:r>
          </a:p>
          <a:p>
            <a:pPr marL="0" indent="0" algn="just">
              <a:buNone/>
            </a:pP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System.out.println</a:t>
            </a:r>
            <a:r>
              <a:rPr lang="en-US" dirty="0">
                <a:latin typeface="Times New Roman" pitchFamily="18" charset="0"/>
                <a:cs typeface="Times New Roman" pitchFamily="18" charset="0"/>
              </a:rPr>
              <a:t>("Bark"); }</a:t>
            </a:r>
          </a:p>
          <a:p>
            <a:pPr marL="0" indent="0" algn="just">
              <a:buNone/>
            </a:pPr>
            <a:r>
              <a:rPr lang="en-US" dirty="0">
                <a:latin typeface="Times New Roman" pitchFamily="18" charset="0"/>
                <a:cs typeface="Times New Roman" pitchFamily="18" charset="0"/>
              </a:rPr>
              <a:t> }</a:t>
            </a:r>
          </a:p>
          <a:p>
            <a:pPr marL="0" indent="0" algn="just">
              <a:buNone/>
            </a:pPr>
            <a:r>
              <a:rPr lang="en-IN" b="1" dirty="0"/>
              <a:t>Explanation:</a:t>
            </a:r>
          </a:p>
          <a:p>
            <a:pPr marL="0" indent="0" algn="just">
              <a:buNone/>
            </a:pPr>
            <a:r>
              <a:rPr lang="en-US" dirty="0"/>
              <a:t>Dog </a:t>
            </a:r>
            <a:r>
              <a:rPr lang="en-US" b="1" dirty="0"/>
              <a:t>inherits</a:t>
            </a:r>
            <a:r>
              <a:rPr lang="en-US" dirty="0"/>
              <a:t> the sound() method from Animal and </a:t>
            </a:r>
            <a:r>
              <a:rPr lang="en-US" b="1" dirty="0"/>
              <a:t>overrides</a:t>
            </a:r>
            <a:r>
              <a:rPr lang="en-US" dirty="0"/>
              <a:t> it with its own version.</a:t>
            </a:r>
            <a:br>
              <a:rPr lang="en-US" dirty="0"/>
            </a:br>
            <a:r>
              <a:rPr lang="en-US" dirty="0"/>
              <a:t>This shows how a child class can reuse and customize parent class behavior.</a:t>
            </a:r>
            <a:endParaRPr lang="en-US" dirty="0">
              <a:latin typeface="Times New Roman" pitchFamily="18" charset="0"/>
              <a:cs typeface="Times New Roman"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472" y="357166"/>
            <a:ext cx="6347713" cy="890574"/>
          </a:xfrm>
        </p:spPr>
        <p:txBody>
          <a:bodyPr/>
          <a:lstStyle/>
          <a:p>
            <a:r>
              <a:rPr lang="en-US" dirty="0"/>
              <a:t>3. Polymorphism </a:t>
            </a:r>
          </a:p>
        </p:txBody>
      </p:sp>
      <p:sp>
        <p:nvSpPr>
          <p:cNvPr id="3" name="Content Placeholder 2"/>
          <p:cNvSpPr>
            <a:spLocks noGrp="1"/>
          </p:cNvSpPr>
          <p:nvPr>
            <p:ph idx="1"/>
          </p:nvPr>
        </p:nvSpPr>
        <p:spPr>
          <a:xfrm>
            <a:off x="214282" y="1142984"/>
            <a:ext cx="7000924" cy="4898379"/>
          </a:xfrm>
        </p:spPr>
        <p:txBody>
          <a:bodyPr/>
          <a:lstStyle/>
          <a:p>
            <a:pPr algn="just"/>
            <a:r>
              <a:rPr lang="en-US" dirty="0">
                <a:latin typeface="Times New Roman" pitchFamily="18" charset="0"/>
                <a:cs typeface="Times New Roman" pitchFamily="18" charset="0"/>
              </a:rPr>
              <a:t>Polymorphism (from Greek, meaning ―many forms‖) is a feature that allows one interface to be used for a general class of actions. </a:t>
            </a:r>
          </a:p>
          <a:p>
            <a:pPr algn="just"/>
            <a:r>
              <a:rPr lang="en-US" dirty="0">
                <a:latin typeface="Times New Roman" pitchFamily="18" charset="0"/>
                <a:cs typeface="Times New Roman" pitchFamily="18" charset="0"/>
              </a:rPr>
              <a:t>More generally, the concept of polymorphism is often expressed by the phrase ―one interface, multiple methods.‖ </a:t>
            </a:r>
          </a:p>
          <a:p>
            <a:pPr algn="just"/>
            <a:r>
              <a:rPr lang="en-US" dirty="0">
                <a:latin typeface="Times New Roman" pitchFamily="18" charset="0"/>
                <a:cs typeface="Times New Roman" pitchFamily="18" charset="0"/>
              </a:rPr>
              <a:t>This means that it is possible to design a generic interface to a group of related activities. This helps reduce complexity by allowing the same interface to be used to specify a general class of action</a:t>
            </a:r>
          </a:p>
          <a:p>
            <a:r>
              <a:rPr lang="en-US" dirty="0"/>
              <a:t>Two types:</a:t>
            </a:r>
          </a:p>
          <a:p>
            <a:r>
              <a:rPr lang="en-US" b="1" dirty="0"/>
              <a:t>Method Overloading (Compile-time Polymorphism)</a:t>
            </a:r>
            <a:r>
              <a:rPr lang="en-US" dirty="0"/>
              <a:t> – Multiple methods with the </a:t>
            </a:r>
            <a:r>
              <a:rPr lang="en-US" i="1" dirty="0"/>
              <a:t>same name</a:t>
            </a:r>
            <a:r>
              <a:rPr lang="en-US" dirty="0"/>
              <a:t> but different parameters inside the same class.</a:t>
            </a:r>
          </a:p>
          <a:p>
            <a:r>
              <a:rPr lang="en-US" b="1" dirty="0"/>
              <a:t>Method Overriding (Runtime Polymorphism)</a:t>
            </a:r>
            <a:r>
              <a:rPr lang="en-US" dirty="0"/>
              <a:t> – A subclass provides its </a:t>
            </a:r>
            <a:r>
              <a:rPr lang="en-US" i="1" dirty="0"/>
              <a:t>own implementation</a:t>
            </a:r>
            <a:r>
              <a:rPr lang="en-US" dirty="0"/>
              <a:t> of a method already defined in the parent class.</a:t>
            </a:r>
          </a:p>
          <a:p>
            <a:pPr algn="just"/>
            <a:endParaRPr lang="en-US" dirty="0">
              <a:latin typeface="Times New Roman" pitchFamily="18" charset="0"/>
              <a:cs typeface="Times New Roman"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1F057-B6F1-124B-74FD-21FF79A5EDCF}"/>
              </a:ext>
            </a:extLst>
          </p:cNvPr>
          <p:cNvSpPr>
            <a:spLocks noGrp="1"/>
          </p:cNvSpPr>
          <p:nvPr>
            <p:ph type="title"/>
          </p:nvPr>
        </p:nvSpPr>
        <p:spPr>
          <a:xfrm>
            <a:off x="609599" y="609600"/>
            <a:ext cx="6347713" cy="875184"/>
          </a:xfrm>
        </p:spPr>
        <p:txBody>
          <a:bodyPr/>
          <a:lstStyle/>
          <a:p>
            <a:r>
              <a:rPr lang="en-US" dirty="0"/>
              <a:t>Example-1</a:t>
            </a:r>
            <a:endParaRPr lang="en-IN" dirty="0"/>
          </a:p>
        </p:txBody>
      </p:sp>
      <p:sp>
        <p:nvSpPr>
          <p:cNvPr id="3" name="Content Placeholder 2">
            <a:extLst>
              <a:ext uri="{FF2B5EF4-FFF2-40B4-BE49-F238E27FC236}">
                <a16:creationId xmlns:a16="http://schemas.microsoft.com/office/drawing/2014/main" id="{4E2879E6-10E2-F782-9AF4-8594EA2B70DF}"/>
              </a:ext>
            </a:extLst>
          </p:cNvPr>
          <p:cNvSpPr>
            <a:spLocks noGrp="1"/>
          </p:cNvSpPr>
          <p:nvPr>
            <p:ph idx="1"/>
          </p:nvPr>
        </p:nvSpPr>
        <p:spPr>
          <a:xfrm>
            <a:off x="467544" y="1488613"/>
            <a:ext cx="6347714" cy="4676691"/>
          </a:xfrm>
        </p:spPr>
        <p:txBody>
          <a:bodyPr>
            <a:normAutofit lnSpcReduction="10000"/>
          </a:bodyPr>
          <a:lstStyle/>
          <a:p>
            <a:pPr marL="0" indent="0">
              <a:buNone/>
            </a:pPr>
            <a:r>
              <a:rPr lang="en-IN" dirty="0"/>
              <a:t>class Shape {</a:t>
            </a:r>
          </a:p>
          <a:p>
            <a:pPr marL="0" indent="0">
              <a:buNone/>
            </a:pPr>
            <a:r>
              <a:rPr lang="en-IN" dirty="0"/>
              <a:t>	 void draw() {</a:t>
            </a:r>
          </a:p>
          <a:p>
            <a:pPr marL="0" indent="0">
              <a:buNone/>
            </a:pPr>
            <a:r>
              <a:rPr lang="en-IN" dirty="0"/>
              <a:t> </a:t>
            </a:r>
            <a:r>
              <a:rPr lang="en-IN" dirty="0" err="1"/>
              <a:t>System.out.println</a:t>
            </a:r>
            <a:r>
              <a:rPr lang="en-IN" dirty="0"/>
              <a:t>("Shape"); }</a:t>
            </a:r>
          </a:p>
          <a:p>
            <a:pPr marL="0" indent="0">
              <a:buNone/>
            </a:pPr>
            <a:r>
              <a:rPr lang="en-IN" dirty="0"/>
              <a:t> }</a:t>
            </a:r>
          </a:p>
          <a:p>
            <a:pPr marL="0" indent="0">
              <a:buNone/>
            </a:pPr>
            <a:r>
              <a:rPr lang="en-IN" dirty="0"/>
              <a:t>class Circle extends Shape { </a:t>
            </a:r>
          </a:p>
          <a:p>
            <a:pPr marL="0" indent="0">
              <a:buNone/>
            </a:pPr>
            <a:r>
              <a:rPr lang="en-IN" dirty="0"/>
              <a:t>void draw() { </a:t>
            </a:r>
          </a:p>
          <a:p>
            <a:pPr marL="0" indent="0">
              <a:buNone/>
            </a:pPr>
            <a:r>
              <a:rPr lang="en-IN" dirty="0" err="1"/>
              <a:t>System.out.println</a:t>
            </a:r>
            <a:r>
              <a:rPr lang="en-IN" dirty="0"/>
              <a:t>("Circle"); }</a:t>
            </a:r>
          </a:p>
          <a:p>
            <a:pPr marL="0" indent="0">
              <a:buNone/>
            </a:pPr>
            <a:r>
              <a:rPr lang="en-IN" dirty="0"/>
              <a:t> }</a:t>
            </a:r>
          </a:p>
          <a:p>
            <a:pPr marL="0" indent="0">
              <a:buNone/>
            </a:pPr>
            <a:r>
              <a:rPr lang="en-IN" b="1" dirty="0"/>
              <a:t>Explanation:</a:t>
            </a:r>
          </a:p>
          <a:p>
            <a:pPr marL="0" indent="0">
              <a:buNone/>
            </a:pPr>
            <a:r>
              <a:rPr lang="en-US" dirty="0"/>
              <a:t>Circle overrides draw() from Shape, so the method call depends on the </a:t>
            </a:r>
            <a:r>
              <a:rPr lang="en-US" b="1" dirty="0"/>
              <a:t>object type</a:t>
            </a:r>
            <a:r>
              <a:rPr lang="en-US" dirty="0"/>
              <a:t> at runtime.</a:t>
            </a:r>
            <a:br>
              <a:rPr lang="en-US" dirty="0"/>
            </a:br>
            <a:r>
              <a:rPr lang="en-US" dirty="0"/>
              <a:t>This allows the </a:t>
            </a:r>
            <a:r>
              <a:rPr lang="en-US" b="1" dirty="0"/>
              <a:t>same method name</a:t>
            </a:r>
            <a:r>
              <a:rPr lang="en-US" dirty="0"/>
              <a:t> to show </a:t>
            </a:r>
            <a:r>
              <a:rPr lang="en-US" b="1" dirty="0"/>
              <a:t>different behavior</a:t>
            </a:r>
            <a:r>
              <a:rPr lang="en-US" dirty="0"/>
              <a:t>.</a:t>
            </a:r>
            <a:endParaRPr lang="en-IN" dirty="0"/>
          </a:p>
        </p:txBody>
      </p:sp>
    </p:spTree>
    <p:extLst>
      <p:ext uri="{BB962C8B-B14F-4D97-AF65-F5344CB8AC3E}">
        <p14:creationId xmlns:p14="http://schemas.microsoft.com/office/powerpoint/2010/main" val="10838403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DC5B1-AE6C-E3BA-5216-CFE0761DCD00}"/>
              </a:ext>
            </a:extLst>
          </p:cNvPr>
          <p:cNvSpPr>
            <a:spLocks noGrp="1"/>
          </p:cNvSpPr>
          <p:nvPr>
            <p:ph type="title"/>
          </p:nvPr>
        </p:nvSpPr>
        <p:spPr>
          <a:xfrm>
            <a:off x="609599" y="609600"/>
            <a:ext cx="5906617" cy="803176"/>
          </a:xfrm>
        </p:spPr>
        <p:txBody>
          <a:bodyPr/>
          <a:lstStyle/>
          <a:p>
            <a:r>
              <a:rPr lang="en-US" dirty="0"/>
              <a:t>4. Abstraction</a:t>
            </a:r>
            <a:endParaRPr lang="en-IN" dirty="0"/>
          </a:p>
        </p:txBody>
      </p:sp>
      <p:sp>
        <p:nvSpPr>
          <p:cNvPr id="3" name="Content Placeholder 2">
            <a:extLst>
              <a:ext uri="{FF2B5EF4-FFF2-40B4-BE49-F238E27FC236}">
                <a16:creationId xmlns:a16="http://schemas.microsoft.com/office/drawing/2014/main" id="{BC276869-C820-332F-9E6A-8B51992A57A8}"/>
              </a:ext>
            </a:extLst>
          </p:cNvPr>
          <p:cNvSpPr>
            <a:spLocks noGrp="1"/>
          </p:cNvSpPr>
          <p:nvPr>
            <p:ph idx="1"/>
          </p:nvPr>
        </p:nvSpPr>
        <p:spPr>
          <a:xfrm>
            <a:off x="609599" y="1556792"/>
            <a:ext cx="6347714" cy="4484571"/>
          </a:xfrm>
        </p:spPr>
        <p:txBody>
          <a:bodyPr/>
          <a:lstStyle/>
          <a:p>
            <a:r>
              <a:rPr lang="en-US" dirty="0"/>
              <a:t>Abstraction means </a:t>
            </a:r>
            <a:r>
              <a:rPr lang="en-US" b="1" dirty="0"/>
              <a:t>showing only the essential features of an object while hiding unnecessary implementation details</a:t>
            </a:r>
            <a:r>
              <a:rPr lang="en-US" dirty="0"/>
              <a:t>, making programs easier to understand and maintain.</a:t>
            </a:r>
            <a:br>
              <a:rPr lang="en-US" dirty="0"/>
            </a:br>
            <a:r>
              <a:rPr lang="en-US" dirty="0"/>
              <a:t>It helps developers focus on </a:t>
            </a:r>
            <a:r>
              <a:rPr lang="en-US" i="1" dirty="0"/>
              <a:t>what</a:t>
            </a:r>
            <a:r>
              <a:rPr lang="en-US" dirty="0"/>
              <a:t> an object does rather than </a:t>
            </a:r>
            <a:r>
              <a:rPr lang="en-US" i="1" dirty="0"/>
              <a:t>how</a:t>
            </a:r>
            <a:r>
              <a:rPr lang="en-US" dirty="0"/>
              <a:t> it does it.</a:t>
            </a:r>
          </a:p>
          <a:p>
            <a:r>
              <a:rPr lang="en-US" b="1" dirty="0"/>
              <a:t>Achieved using:</a:t>
            </a:r>
            <a:endParaRPr lang="en-US" dirty="0"/>
          </a:p>
          <a:p>
            <a:pPr marL="0" indent="0">
              <a:buNone/>
            </a:pPr>
            <a:r>
              <a:rPr lang="en-US" b="1" dirty="0"/>
              <a:t>	1.Abstract Classes</a:t>
            </a:r>
            <a:r>
              <a:rPr lang="en-US" dirty="0"/>
              <a:t> – Provide partial implementation 	and 	allow subclasses to define specific behaviors.</a:t>
            </a:r>
          </a:p>
          <a:p>
            <a:pPr marL="0" indent="0">
              <a:buNone/>
            </a:pPr>
            <a:r>
              <a:rPr lang="en-US" b="1" dirty="0"/>
              <a:t>	2.Interfaces</a:t>
            </a:r>
            <a:r>
              <a:rPr lang="en-US" dirty="0"/>
              <a:t> – Define a contract of methods that 	classes 	must implement, supporting complete 	abstraction and 	multiple inheritance.</a:t>
            </a:r>
          </a:p>
          <a:p>
            <a:endParaRPr lang="en-IN" dirty="0"/>
          </a:p>
        </p:txBody>
      </p:sp>
    </p:spTree>
    <p:extLst>
      <p:ext uri="{BB962C8B-B14F-4D97-AF65-F5344CB8AC3E}">
        <p14:creationId xmlns:p14="http://schemas.microsoft.com/office/powerpoint/2010/main" val="14176061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047D5-BD4A-2CA1-0BFF-755EBE90678F}"/>
              </a:ext>
            </a:extLst>
          </p:cNvPr>
          <p:cNvSpPr>
            <a:spLocks noGrp="1"/>
          </p:cNvSpPr>
          <p:nvPr>
            <p:ph type="title"/>
          </p:nvPr>
        </p:nvSpPr>
        <p:spPr>
          <a:xfrm>
            <a:off x="609599" y="609600"/>
            <a:ext cx="6266657" cy="875184"/>
          </a:xfrm>
        </p:spPr>
        <p:txBody>
          <a:bodyPr/>
          <a:lstStyle/>
          <a:p>
            <a:r>
              <a:rPr lang="en-US" dirty="0"/>
              <a:t>Example-1</a:t>
            </a:r>
            <a:endParaRPr lang="en-IN" dirty="0"/>
          </a:p>
        </p:txBody>
      </p:sp>
      <p:sp>
        <p:nvSpPr>
          <p:cNvPr id="3" name="Content Placeholder 2">
            <a:extLst>
              <a:ext uri="{FF2B5EF4-FFF2-40B4-BE49-F238E27FC236}">
                <a16:creationId xmlns:a16="http://schemas.microsoft.com/office/drawing/2014/main" id="{E3C55C7B-7CDE-7EE1-8504-0C3C4069EB51}"/>
              </a:ext>
            </a:extLst>
          </p:cNvPr>
          <p:cNvSpPr>
            <a:spLocks noGrp="1"/>
          </p:cNvSpPr>
          <p:nvPr>
            <p:ph idx="1"/>
          </p:nvPr>
        </p:nvSpPr>
        <p:spPr>
          <a:xfrm>
            <a:off x="539552" y="1484784"/>
            <a:ext cx="6480720" cy="4824536"/>
          </a:xfrm>
        </p:spPr>
        <p:txBody>
          <a:bodyPr>
            <a:normAutofit/>
          </a:bodyPr>
          <a:lstStyle/>
          <a:p>
            <a:pPr marL="0" indent="0">
              <a:buNone/>
            </a:pPr>
            <a:r>
              <a:rPr lang="en-IN" dirty="0"/>
              <a:t>abstract class Vehicle { </a:t>
            </a:r>
          </a:p>
          <a:p>
            <a:pPr marL="0" indent="0">
              <a:buNone/>
            </a:pPr>
            <a:r>
              <a:rPr lang="en-IN" dirty="0"/>
              <a:t>	abstract void start();</a:t>
            </a:r>
          </a:p>
          <a:p>
            <a:pPr marL="0" indent="0">
              <a:buNone/>
            </a:pPr>
            <a:r>
              <a:rPr lang="en-IN" dirty="0"/>
              <a:t> }</a:t>
            </a:r>
          </a:p>
          <a:p>
            <a:pPr marL="0" indent="0">
              <a:buNone/>
            </a:pPr>
            <a:r>
              <a:rPr lang="en-IN" dirty="0"/>
              <a:t>class Car extends Vehicle {</a:t>
            </a:r>
          </a:p>
          <a:p>
            <a:pPr marL="0" indent="0">
              <a:buNone/>
            </a:pPr>
            <a:r>
              <a:rPr lang="en-IN" dirty="0"/>
              <a:t>	 void start() {</a:t>
            </a:r>
          </a:p>
          <a:p>
            <a:pPr marL="0" indent="0">
              <a:buNone/>
            </a:pPr>
            <a:r>
              <a:rPr lang="en-IN" dirty="0"/>
              <a:t>	 </a:t>
            </a:r>
            <a:r>
              <a:rPr lang="en-IN" dirty="0" err="1"/>
              <a:t>System.out.println</a:t>
            </a:r>
            <a:r>
              <a:rPr lang="en-IN" dirty="0"/>
              <a:t>("Car starts");</a:t>
            </a:r>
          </a:p>
          <a:p>
            <a:pPr marL="0" indent="0">
              <a:buNone/>
            </a:pPr>
            <a:r>
              <a:rPr lang="en-IN" dirty="0"/>
              <a:t> }</a:t>
            </a:r>
          </a:p>
          <a:p>
            <a:pPr marL="0" indent="0">
              <a:buNone/>
            </a:pPr>
            <a:r>
              <a:rPr lang="en-IN" dirty="0"/>
              <a:t> }</a:t>
            </a:r>
          </a:p>
          <a:p>
            <a:pPr marL="0" indent="0">
              <a:buNone/>
            </a:pPr>
            <a:r>
              <a:rPr lang="en-IN" b="1" dirty="0"/>
              <a:t>Explanation:</a:t>
            </a:r>
          </a:p>
          <a:p>
            <a:r>
              <a:rPr lang="en-US" dirty="0"/>
              <a:t>Vehicle provides an </a:t>
            </a:r>
            <a:r>
              <a:rPr lang="en-US" b="1" dirty="0"/>
              <a:t>abstract method</a:t>
            </a:r>
            <a:r>
              <a:rPr lang="en-US" dirty="0"/>
              <a:t> without details, and Car gives the actual implementation.</a:t>
            </a:r>
            <a:br>
              <a:rPr lang="en-US" dirty="0"/>
            </a:br>
            <a:r>
              <a:rPr lang="en-US" dirty="0"/>
              <a:t>This hides unnecessary code and shows only the </a:t>
            </a:r>
            <a:r>
              <a:rPr lang="en-US" b="1" dirty="0"/>
              <a:t>essential functionality</a:t>
            </a:r>
            <a:r>
              <a:rPr lang="en-US" dirty="0"/>
              <a:t>.</a:t>
            </a:r>
            <a:endParaRPr lang="en-IN" dirty="0"/>
          </a:p>
        </p:txBody>
      </p:sp>
    </p:spTree>
    <p:extLst>
      <p:ext uri="{BB962C8B-B14F-4D97-AF65-F5344CB8AC3E}">
        <p14:creationId xmlns:p14="http://schemas.microsoft.com/office/powerpoint/2010/main" val="10514259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7BA6B-4E9C-509E-3E78-61D70281712B}"/>
              </a:ext>
            </a:extLst>
          </p:cNvPr>
          <p:cNvSpPr>
            <a:spLocks noGrp="1"/>
          </p:cNvSpPr>
          <p:nvPr>
            <p:ph type="title"/>
          </p:nvPr>
        </p:nvSpPr>
        <p:spPr>
          <a:xfrm>
            <a:off x="609599" y="609600"/>
            <a:ext cx="6347713" cy="875184"/>
          </a:xfrm>
        </p:spPr>
        <p:txBody>
          <a:bodyPr/>
          <a:lstStyle/>
          <a:p>
            <a:r>
              <a:rPr lang="en-IN" dirty="0"/>
              <a:t>Conclusion </a:t>
            </a:r>
          </a:p>
        </p:txBody>
      </p:sp>
      <p:sp>
        <p:nvSpPr>
          <p:cNvPr id="3" name="Content Placeholder 2">
            <a:extLst>
              <a:ext uri="{FF2B5EF4-FFF2-40B4-BE49-F238E27FC236}">
                <a16:creationId xmlns:a16="http://schemas.microsoft.com/office/drawing/2014/main" id="{63A4CFF9-5A43-7C5D-63E9-EC118457795E}"/>
              </a:ext>
            </a:extLst>
          </p:cNvPr>
          <p:cNvSpPr>
            <a:spLocks noGrp="1"/>
          </p:cNvSpPr>
          <p:nvPr>
            <p:ph idx="1"/>
          </p:nvPr>
        </p:nvSpPr>
        <p:spPr>
          <a:xfrm>
            <a:off x="609599" y="1484784"/>
            <a:ext cx="6347714" cy="4556579"/>
          </a:xfrm>
        </p:spPr>
        <p:txBody>
          <a:bodyPr/>
          <a:lstStyle/>
          <a:p>
            <a:r>
              <a:rPr lang="en-US" dirty="0"/>
              <a:t>Java is a powerful, secure, and flexible programming language that remains widely used because of its strong design and platform independence. Its OOP principles—Encapsulation, Inheritance, Polymorphism, and Abstraction—help developers write modular, reusable, and easy-to-maintain code.</a:t>
            </a:r>
          </a:p>
          <a:p>
            <a:r>
              <a:rPr lang="en-US" dirty="0"/>
              <a:t>Thanks to its reliability and large ecosystem, Java continues to be a leading choice in industries such as banking, web development, mobile apps, cloud services, and enterprise software. Java’s consistency and long-term stability make it one of the most trusted languages in the world.</a:t>
            </a:r>
          </a:p>
          <a:p>
            <a:r>
              <a:rPr lang="en-US" dirty="0"/>
              <a:t>With continuous updates and an active community, Java keeps evolving to meet modern development needs.</a:t>
            </a:r>
          </a:p>
          <a:p>
            <a:endParaRPr lang="en-US" dirty="0"/>
          </a:p>
          <a:p>
            <a:endParaRPr lang="en-IN" dirty="0"/>
          </a:p>
        </p:txBody>
      </p:sp>
    </p:spTree>
    <p:extLst>
      <p:ext uri="{BB962C8B-B14F-4D97-AF65-F5344CB8AC3E}">
        <p14:creationId xmlns:p14="http://schemas.microsoft.com/office/powerpoint/2010/main" val="40539251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Text&#10;&#10;Description automatically generated">
            <a:extLst>
              <a:ext uri="{FF2B5EF4-FFF2-40B4-BE49-F238E27FC236}">
                <a16:creationId xmlns:a16="http://schemas.microsoft.com/office/drawing/2014/main" id="{8F5BE039-EF08-420A-B40D-D7681EF6B65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533400"/>
            <a:ext cx="8915400" cy="6553200"/>
          </a:xfrm>
        </p:spPr>
      </p:pic>
    </p:spTree>
    <p:extLst>
      <p:ext uri="{BB962C8B-B14F-4D97-AF65-F5344CB8AC3E}">
        <p14:creationId xmlns:p14="http://schemas.microsoft.com/office/powerpoint/2010/main" val="263516082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TM02900688[[fn=Facet]]</Template>
  <TotalTime>5619</TotalTime>
  <Words>2303</Words>
  <Application>Microsoft Office PowerPoint</Application>
  <PresentationFormat>On-screen Show (4:3)</PresentationFormat>
  <Paragraphs>183</Paragraphs>
  <Slides>27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Calibri</vt:lpstr>
      <vt:lpstr>Times New Roman</vt:lpstr>
      <vt:lpstr>Trebuchet MS</vt:lpstr>
      <vt:lpstr>Wingdings</vt:lpstr>
      <vt:lpstr>Wingdings 3</vt:lpstr>
      <vt:lpstr>Facet</vt:lpstr>
      <vt:lpstr>Introduction &amp; History of Java and Object-Oriented Programming (OOP) in Java </vt:lpstr>
      <vt:lpstr>PowerPoint Presentation</vt:lpstr>
      <vt:lpstr>The Compilation and execution process of a java program</vt:lpstr>
      <vt:lpstr>The Compilation and execution process of a java program</vt:lpstr>
      <vt:lpstr>JVM</vt:lpstr>
      <vt:lpstr>PowerPoint Presentation</vt:lpstr>
      <vt:lpstr>PowerPoint Presentation</vt:lpstr>
      <vt:lpstr>PowerPoint Presentation</vt:lpstr>
      <vt:lpstr>PowerPoint Presentation</vt:lpstr>
      <vt:lpstr>Secured: Java is best known for its security. With Java, we can develop virus-free systems. Java is secured because: No explicit pointer Java Programs run inside a virtual machine sandbox  Robust: The English mining of Robust is strong. Java is robust because: It uses strong memory management. There is a lack of pointers that avoids security problems. Java provides automatic garbage collection which runs on the Java Virtual Machine to get rid of objects which are not being used by a Java application anymore. There are exception handling and the type checking mechanism in Java. All these points make Java robust.   </vt:lpstr>
      <vt:lpstr>Architecture-neutral: Java is architecture neutral because there are no implementation dependent features, for example, the size of primitive types is fixed. In C programming, int data type occupies 2 bytes of memory for 32-bit architecture and 4 bytes of memory for 64-bit architecture. However, it occupies 4 bytes of memory for both 32 and 64-bit architectures in Java.  Portable: Java is portable because it facilitates you to carry the Java bytecode to any platform. It doesn't require any implementation.  Multi-threaded: A thread is like a separate program, executing concurrently. We can write Java programs that deal with many tasks at once by defining multiple threads. The main advantage of multi-threading is that it doesn't occupy memory for each thread. It shares a common memory area. Threads are important for multi-media, Web applications, etc.   </vt:lpstr>
      <vt:lpstr>PowerPoint Presentation</vt:lpstr>
      <vt:lpstr>The Java Development Kit</vt:lpstr>
      <vt:lpstr>A First Simple Program</vt:lpstr>
      <vt:lpstr>Contd….</vt:lpstr>
      <vt:lpstr>The History of Java</vt:lpstr>
      <vt:lpstr>Object-Oriented Programming (OOP) in Java</vt:lpstr>
      <vt:lpstr>1. Encapsulation </vt:lpstr>
      <vt:lpstr>Example-1</vt:lpstr>
      <vt:lpstr>2. Inheritance </vt:lpstr>
      <vt:lpstr>Example-1</vt:lpstr>
      <vt:lpstr>3. Polymorphism </vt:lpstr>
      <vt:lpstr>Example-1</vt:lpstr>
      <vt:lpstr>4. Abstraction</vt:lpstr>
      <vt:lpstr>Example-1</vt:lpstr>
      <vt:lpstr>Conclusion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Scalar Variables</dc:title>
  <dc:creator>HEMA N</dc:creator>
  <cp:lastModifiedBy>Chiranjivi R</cp:lastModifiedBy>
  <cp:revision>670</cp:revision>
  <dcterms:created xsi:type="dcterms:W3CDTF">2006-08-16T00:00:00Z</dcterms:created>
  <dcterms:modified xsi:type="dcterms:W3CDTF">2025-11-15T15:13:55Z</dcterms:modified>
</cp:coreProperties>
</file>